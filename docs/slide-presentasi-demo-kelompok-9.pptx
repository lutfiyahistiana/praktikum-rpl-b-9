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Helios Extended Bold" charset="1" panose="02000805050000020004"/>
      <p:regular r:id="rId16"/>
    </p:embeddedFont>
    <p:embeddedFont>
      <p:font typeface="Body Text Fit Bold" charset="1" panose="02000503040000020004"/>
      <p:regular r:id="rId17"/>
    </p:embeddedFont>
    <p:embeddedFont>
      <p:font typeface="Glacial Indifference" charset="1" panose="00000000000000000000"/>
      <p:regular r:id="rId18"/>
    </p:embeddedFont>
    <p:embeddedFont>
      <p:font typeface="Glacial Indifference Bold" charset="1" panose="0000080000000000000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7DFF">
                <a:alpha val="100000"/>
              </a:srgbClr>
            </a:gs>
            <a:gs pos="100000">
              <a:srgbClr val="0CB9EF">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780916" y="7926195"/>
            <a:ext cx="3060155" cy="1411932"/>
            <a:chOff x="0" y="0"/>
            <a:chExt cx="1059862" cy="489012"/>
          </a:xfrm>
        </p:grpSpPr>
        <p:sp>
          <p:nvSpPr>
            <p:cNvPr name="Freeform 3" id="3"/>
            <p:cNvSpPr/>
            <p:nvPr/>
          </p:nvSpPr>
          <p:spPr>
            <a:xfrm flipH="false" flipV="false" rot="0">
              <a:off x="0" y="0"/>
              <a:ext cx="1059862" cy="489012"/>
            </a:xfrm>
            <a:custGeom>
              <a:avLst/>
              <a:gdLst/>
              <a:ahLst/>
              <a:cxnLst/>
              <a:rect r="r" b="b" t="t" l="l"/>
              <a:pathLst>
                <a:path h="489012" w="1059862">
                  <a:moveTo>
                    <a:pt x="116376" y="0"/>
                  </a:moveTo>
                  <a:lnTo>
                    <a:pt x="943486" y="0"/>
                  </a:lnTo>
                  <a:cubicBezTo>
                    <a:pt x="1007759" y="0"/>
                    <a:pt x="1059862" y="52103"/>
                    <a:pt x="1059862" y="116376"/>
                  </a:cubicBezTo>
                  <a:lnTo>
                    <a:pt x="1059862" y="372636"/>
                  </a:lnTo>
                  <a:cubicBezTo>
                    <a:pt x="1059862" y="403501"/>
                    <a:pt x="1047601" y="433102"/>
                    <a:pt x="1025777" y="454926"/>
                  </a:cubicBezTo>
                  <a:cubicBezTo>
                    <a:pt x="1003952" y="476751"/>
                    <a:pt x="974351" y="489012"/>
                    <a:pt x="943486" y="489012"/>
                  </a:cubicBezTo>
                  <a:lnTo>
                    <a:pt x="116376" y="489012"/>
                  </a:lnTo>
                  <a:cubicBezTo>
                    <a:pt x="52103" y="489012"/>
                    <a:pt x="0" y="436909"/>
                    <a:pt x="0" y="372636"/>
                  </a:cubicBezTo>
                  <a:lnTo>
                    <a:pt x="0" y="116376"/>
                  </a:lnTo>
                  <a:cubicBezTo>
                    <a:pt x="0" y="52103"/>
                    <a:pt x="52103" y="0"/>
                    <a:pt x="116376" y="0"/>
                  </a:cubicBezTo>
                  <a:close/>
                </a:path>
              </a:pathLst>
            </a:custGeom>
            <a:ln w="57150" cap="rnd">
              <a:solidFill>
                <a:srgbClr val="FFFFFF"/>
              </a:solidFill>
              <a:prstDash val="solid"/>
              <a:round/>
            </a:ln>
          </p:spPr>
        </p:sp>
        <p:sp>
          <p:nvSpPr>
            <p:cNvPr name="TextBox 4" id="4"/>
            <p:cNvSpPr txBox="true"/>
            <p:nvPr/>
          </p:nvSpPr>
          <p:spPr>
            <a:xfrm>
              <a:off x="0" y="-38100"/>
              <a:ext cx="1059862" cy="527112"/>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4231596" y="7955168"/>
            <a:ext cx="3060155" cy="1411932"/>
            <a:chOff x="0" y="0"/>
            <a:chExt cx="1059862" cy="489012"/>
          </a:xfrm>
        </p:grpSpPr>
        <p:sp>
          <p:nvSpPr>
            <p:cNvPr name="Freeform 6" id="6"/>
            <p:cNvSpPr/>
            <p:nvPr/>
          </p:nvSpPr>
          <p:spPr>
            <a:xfrm flipH="false" flipV="false" rot="0">
              <a:off x="0" y="0"/>
              <a:ext cx="1059862" cy="489012"/>
            </a:xfrm>
            <a:custGeom>
              <a:avLst/>
              <a:gdLst/>
              <a:ahLst/>
              <a:cxnLst/>
              <a:rect r="r" b="b" t="t" l="l"/>
              <a:pathLst>
                <a:path h="489012" w="1059862">
                  <a:moveTo>
                    <a:pt x="116376" y="0"/>
                  </a:moveTo>
                  <a:lnTo>
                    <a:pt x="943486" y="0"/>
                  </a:lnTo>
                  <a:cubicBezTo>
                    <a:pt x="1007759" y="0"/>
                    <a:pt x="1059862" y="52103"/>
                    <a:pt x="1059862" y="116376"/>
                  </a:cubicBezTo>
                  <a:lnTo>
                    <a:pt x="1059862" y="372636"/>
                  </a:lnTo>
                  <a:cubicBezTo>
                    <a:pt x="1059862" y="403501"/>
                    <a:pt x="1047601" y="433102"/>
                    <a:pt x="1025777" y="454926"/>
                  </a:cubicBezTo>
                  <a:cubicBezTo>
                    <a:pt x="1003952" y="476751"/>
                    <a:pt x="974351" y="489012"/>
                    <a:pt x="943486" y="489012"/>
                  </a:cubicBezTo>
                  <a:lnTo>
                    <a:pt x="116376" y="489012"/>
                  </a:lnTo>
                  <a:cubicBezTo>
                    <a:pt x="52103" y="489012"/>
                    <a:pt x="0" y="436909"/>
                    <a:pt x="0" y="372636"/>
                  </a:cubicBezTo>
                  <a:lnTo>
                    <a:pt x="0" y="116376"/>
                  </a:lnTo>
                  <a:cubicBezTo>
                    <a:pt x="0" y="52103"/>
                    <a:pt x="52103" y="0"/>
                    <a:pt x="116376" y="0"/>
                  </a:cubicBezTo>
                  <a:close/>
                </a:path>
              </a:pathLst>
            </a:custGeom>
            <a:ln w="57150" cap="rnd">
              <a:solidFill>
                <a:srgbClr val="FFFFFF"/>
              </a:solidFill>
              <a:prstDash val="solid"/>
              <a:round/>
            </a:ln>
          </p:spPr>
        </p:sp>
        <p:sp>
          <p:nvSpPr>
            <p:cNvPr name="TextBox 7" id="7"/>
            <p:cNvSpPr txBox="true"/>
            <p:nvPr/>
          </p:nvSpPr>
          <p:spPr>
            <a:xfrm>
              <a:off x="0" y="-38100"/>
              <a:ext cx="1059862" cy="527112"/>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7679124" y="7955168"/>
            <a:ext cx="3060155" cy="1411932"/>
            <a:chOff x="0" y="0"/>
            <a:chExt cx="1059862" cy="489012"/>
          </a:xfrm>
        </p:grpSpPr>
        <p:sp>
          <p:nvSpPr>
            <p:cNvPr name="Freeform 9" id="9"/>
            <p:cNvSpPr/>
            <p:nvPr/>
          </p:nvSpPr>
          <p:spPr>
            <a:xfrm flipH="false" flipV="false" rot="0">
              <a:off x="0" y="0"/>
              <a:ext cx="1059862" cy="489012"/>
            </a:xfrm>
            <a:custGeom>
              <a:avLst/>
              <a:gdLst/>
              <a:ahLst/>
              <a:cxnLst/>
              <a:rect r="r" b="b" t="t" l="l"/>
              <a:pathLst>
                <a:path h="489012" w="1059862">
                  <a:moveTo>
                    <a:pt x="116376" y="0"/>
                  </a:moveTo>
                  <a:lnTo>
                    <a:pt x="943486" y="0"/>
                  </a:lnTo>
                  <a:cubicBezTo>
                    <a:pt x="1007759" y="0"/>
                    <a:pt x="1059862" y="52103"/>
                    <a:pt x="1059862" y="116376"/>
                  </a:cubicBezTo>
                  <a:lnTo>
                    <a:pt x="1059862" y="372636"/>
                  </a:lnTo>
                  <a:cubicBezTo>
                    <a:pt x="1059862" y="403501"/>
                    <a:pt x="1047601" y="433102"/>
                    <a:pt x="1025777" y="454926"/>
                  </a:cubicBezTo>
                  <a:cubicBezTo>
                    <a:pt x="1003952" y="476751"/>
                    <a:pt x="974351" y="489012"/>
                    <a:pt x="943486" y="489012"/>
                  </a:cubicBezTo>
                  <a:lnTo>
                    <a:pt x="116376" y="489012"/>
                  </a:lnTo>
                  <a:cubicBezTo>
                    <a:pt x="52103" y="489012"/>
                    <a:pt x="0" y="436909"/>
                    <a:pt x="0" y="372636"/>
                  </a:cubicBezTo>
                  <a:lnTo>
                    <a:pt x="0" y="116376"/>
                  </a:lnTo>
                  <a:cubicBezTo>
                    <a:pt x="0" y="52103"/>
                    <a:pt x="52103" y="0"/>
                    <a:pt x="116376" y="0"/>
                  </a:cubicBezTo>
                  <a:close/>
                </a:path>
              </a:pathLst>
            </a:custGeom>
            <a:ln w="57150" cap="rnd">
              <a:solidFill>
                <a:srgbClr val="FFFFFF"/>
              </a:solidFill>
              <a:prstDash val="solid"/>
              <a:round/>
            </a:ln>
          </p:spPr>
        </p:sp>
        <p:sp>
          <p:nvSpPr>
            <p:cNvPr name="TextBox 10" id="10"/>
            <p:cNvSpPr txBox="true"/>
            <p:nvPr/>
          </p:nvSpPr>
          <p:spPr>
            <a:xfrm>
              <a:off x="0" y="-38100"/>
              <a:ext cx="1059862" cy="527112"/>
            </a:xfrm>
            <a:prstGeom prst="rect">
              <a:avLst/>
            </a:prstGeom>
          </p:spPr>
          <p:txBody>
            <a:bodyPr anchor="ctr" rtlCol="false" tIns="50800" lIns="50800" bIns="50800" rIns="50800"/>
            <a:lstStyle/>
            <a:p>
              <a:pPr algn="ctr">
                <a:lnSpc>
                  <a:spcPts val="2659"/>
                </a:lnSpc>
                <a:spcBef>
                  <a:spcPct val="0"/>
                </a:spcBef>
              </a:pPr>
            </a:p>
          </p:txBody>
        </p:sp>
      </p:grpSp>
      <p:sp>
        <p:nvSpPr>
          <p:cNvPr name="AutoShape 11" id="11"/>
          <p:cNvSpPr/>
          <p:nvPr/>
        </p:nvSpPr>
        <p:spPr>
          <a:xfrm>
            <a:off x="804904" y="7177436"/>
            <a:ext cx="16678193" cy="0"/>
          </a:xfrm>
          <a:prstGeom prst="line">
            <a:avLst/>
          </a:prstGeom>
          <a:ln cap="rnd" w="57150">
            <a:solidFill>
              <a:srgbClr val="FFFFFF"/>
            </a:solidFill>
            <a:prstDash val="solid"/>
            <a:headEnd type="none" len="sm" w="sm"/>
            <a:tailEnd type="none" len="sm" w="sm"/>
          </a:ln>
        </p:spPr>
      </p:sp>
      <p:sp>
        <p:nvSpPr>
          <p:cNvPr name="Freeform 12" id="12"/>
          <p:cNvSpPr/>
          <p:nvPr/>
        </p:nvSpPr>
        <p:spPr>
          <a:xfrm flipH="false" flipV="true" rot="0">
            <a:off x="15376071" y="5062289"/>
            <a:ext cx="2107025" cy="1114089"/>
          </a:xfrm>
          <a:custGeom>
            <a:avLst/>
            <a:gdLst/>
            <a:ahLst/>
            <a:cxnLst/>
            <a:rect r="r" b="b" t="t" l="l"/>
            <a:pathLst>
              <a:path h="1114089" w="2107025">
                <a:moveTo>
                  <a:pt x="0" y="1114089"/>
                </a:moveTo>
                <a:lnTo>
                  <a:pt x="2107025" y="1114089"/>
                </a:lnTo>
                <a:lnTo>
                  <a:pt x="2107025" y="0"/>
                </a:lnTo>
                <a:lnTo>
                  <a:pt x="0" y="0"/>
                </a:lnTo>
                <a:lnTo>
                  <a:pt x="0" y="111408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804904" y="5062289"/>
            <a:ext cx="2107025" cy="1114089"/>
          </a:xfrm>
          <a:custGeom>
            <a:avLst/>
            <a:gdLst/>
            <a:ahLst/>
            <a:cxnLst/>
            <a:rect r="r" b="b" t="t" l="l"/>
            <a:pathLst>
              <a:path h="1114089" w="2107025">
                <a:moveTo>
                  <a:pt x="0" y="0"/>
                </a:moveTo>
                <a:lnTo>
                  <a:pt x="2107025" y="0"/>
                </a:lnTo>
                <a:lnTo>
                  <a:pt x="2107025" y="1114089"/>
                </a:lnTo>
                <a:lnTo>
                  <a:pt x="0" y="111408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4" id="14"/>
          <p:cNvGrpSpPr/>
          <p:nvPr/>
        </p:nvGrpSpPr>
        <p:grpSpPr>
          <a:xfrm rot="0">
            <a:off x="-1074490" y="-1077964"/>
            <a:ext cx="4280468" cy="2535638"/>
            <a:chOff x="0" y="0"/>
            <a:chExt cx="1127366" cy="667822"/>
          </a:xfrm>
        </p:grpSpPr>
        <p:sp>
          <p:nvSpPr>
            <p:cNvPr name="Freeform 15" id="15"/>
            <p:cNvSpPr/>
            <p:nvPr/>
          </p:nvSpPr>
          <p:spPr>
            <a:xfrm flipH="false" flipV="false" rot="0">
              <a:off x="0" y="0"/>
              <a:ext cx="1127366" cy="667822"/>
            </a:xfrm>
            <a:custGeom>
              <a:avLst/>
              <a:gdLst/>
              <a:ahLst/>
              <a:cxnLst/>
              <a:rect r="r" b="b" t="t" l="l"/>
              <a:pathLst>
                <a:path h="667822" w="1127366">
                  <a:moveTo>
                    <a:pt x="99476" y="0"/>
                  </a:moveTo>
                  <a:lnTo>
                    <a:pt x="1027890" y="0"/>
                  </a:lnTo>
                  <a:cubicBezTo>
                    <a:pt x="1082829" y="0"/>
                    <a:pt x="1127366" y="44537"/>
                    <a:pt x="1127366" y="99476"/>
                  </a:cubicBezTo>
                  <a:lnTo>
                    <a:pt x="1127366" y="568346"/>
                  </a:lnTo>
                  <a:cubicBezTo>
                    <a:pt x="1127366" y="594729"/>
                    <a:pt x="1116886" y="620031"/>
                    <a:pt x="1098230" y="638686"/>
                  </a:cubicBezTo>
                  <a:cubicBezTo>
                    <a:pt x="1079575" y="657342"/>
                    <a:pt x="1054272" y="667822"/>
                    <a:pt x="1027890" y="667822"/>
                  </a:cubicBezTo>
                  <a:lnTo>
                    <a:pt x="99476" y="667822"/>
                  </a:lnTo>
                  <a:cubicBezTo>
                    <a:pt x="73094" y="667822"/>
                    <a:pt x="47791" y="657342"/>
                    <a:pt x="29136" y="638686"/>
                  </a:cubicBezTo>
                  <a:cubicBezTo>
                    <a:pt x="10481" y="620031"/>
                    <a:pt x="0" y="594729"/>
                    <a:pt x="0" y="568346"/>
                  </a:cubicBezTo>
                  <a:lnTo>
                    <a:pt x="0" y="99476"/>
                  </a:lnTo>
                  <a:cubicBezTo>
                    <a:pt x="0" y="73094"/>
                    <a:pt x="10481" y="47791"/>
                    <a:pt x="29136" y="29136"/>
                  </a:cubicBezTo>
                  <a:cubicBezTo>
                    <a:pt x="47791" y="10481"/>
                    <a:pt x="73094" y="0"/>
                    <a:pt x="99476" y="0"/>
                  </a:cubicBezTo>
                  <a:close/>
                </a:path>
              </a:pathLst>
            </a:custGeom>
            <a:solidFill>
              <a:srgbClr val="FFFFFF"/>
            </a:solidFill>
          </p:spPr>
        </p:sp>
        <p:sp>
          <p:nvSpPr>
            <p:cNvPr name="TextBox 16" id="16"/>
            <p:cNvSpPr txBox="true"/>
            <p:nvPr/>
          </p:nvSpPr>
          <p:spPr>
            <a:xfrm>
              <a:off x="0" y="-38100"/>
              <a:ext cx="1127366" cy="705922"/>
            </a:xfrm>
            <a:prstGeom prst="rect">
              <a:avLst/>
            </a:prstGeom>
          </p:spPr>
          <p:txBody>
            <a:bodyPr anchor="ctr" rtlCol="false" tIns="50800" lIns="50800" bIns="50800" rIns="50800"/>
            <a:lstStyle/>
            <a:p>
              <a:pPr algn="ctr">
                <a:lnSpc>
                  <a:spcPts val="2659"/>
                </a:lnSpc>
              </a:pPr>
            </a:p>
          </p:txBody>
        </p:sp>
      </p:grpSp>
      <p:sp>
        <p:nvSpPr>
          <p:cNvPr name="Freeform 17" id="17"/>
          <p:cNvSpPr/>
          <p:nvPr/>
        </p:nvSpPr>
        <p:spPr>
          <a:xfrm flipH="false" flipV="false" rot="0">
            <a:off x="780916" y="274638"/>
            <a:ext cx="1911444" cy="898172"/>
          </a:xfrm>
          <a:custGeom>
            <a:avLst/>
            <a:gdLst/>
            <a:ahLst/>
            <a:cxnLst/>
            <a:rect r="r" b="b" t="t" l="l"/>
            <a:pathLst>
              <a:path h="898172" w="1911444">
                <a:moveTo>
                  <a:pt x="0" y="0"/>
                </a:moveTo>
                <a:lnTo>
                  <a:pt x="1911443" y="0"/>
                </a:lnTo>
                <a:lnTo>
                  <a:pt x="1911443" y="898172"/>
                </a:lnTo>
                <a:lnTo>
                  <a:pt x="0" y="898172"/>
                </a:lnTo>
                <a:lnTo>
                  <a:pt x="0" y="0"/>
                </a:lnTo>
                <a:close/>
              </a:path>
            </a:pathLst>
          </a:custGeom>
          <a:blipFill>
            <a:blip r:embed="rId4"/>
            <a:stretch>
              <a:fillRect l="0" t="0" r="0" b="0"/>
            </a:stretch>
          </a:blipFill>
        </p:spPr>
      </p:sp>
      <p:grpSp>
        <p:nvGrpSpPr>
          <p:cNvPr name="Group 18" id="18"/>
          <p:cNvGrpSpPr/>
          <p:nvPr/>
        </p:nvGrpSpPr>
        <p:grpSpPr>
          <a:xfrm rot="0">
            <a:off x="11129804" y="7955168"/>
            <a:ext cx="3060155" cy="1411932"/>
            <a:chOff x="0" y="0"/>
            <a:chExt cx="1059862" cy="489012"/>
          </a:xfrm>
        </p:grpSpPr>
        <p:sp>
          <p:nvSpPr>
            <p:cNvPr name="Freeform 19" id="19"/>
            <p:cNvSpPr/>
            <p:nvPr/>
          </p:nvSpPr>
          <p:spPr>
            <a:xfrm flipH="false" flipV="false" rot="0">
              <a:off x="0" y="0"/>
              <a:ext cx="1059862" cy="489012"/>
            </a:xfrm>
            <a:custGeom>
              <a:avLst/>
              <a:gdLst/>
              <a:ahLst/>
              <a:cxnLst/>
              <a:rect r="r" b="b" t="t" l="l"/>
              <a:pathLst>
                <a:path h="489012" w="1059862">
                  <a:moveTo>
                    <a:pt x="116376" y="0"/>
                  </a:moveTo>
                  <a:lnTo>
                    <a:pt x="943486" y="0"/>
                  </a:lnTo>
                  <a:cubicBezTo>
                    <a:pt x="1007759" y="0"/>
                    <a:pt x="1059862" y="52103"/>
                    <a:pt x="1059862" y="116376"/>
                  </a:cubicBezTo>
                  <a:lnTo>
                    <a:pt x="1059862" y="372636"/>
                  </a:lnTo>
                  <a:cubicBezTo>
                    <a:pt x="1059862" y="403501"/>
                    <a:pt x="1047601" y="433102"/>
                    <a:pt x="1025777" y="454926"/>
                  </a:cubicBezTo>
                  <a:cubicBezTo>
                    <a:pt x="1003952" y="476751"/>
                    <a:pt x="974351" y="489012"/>
                    <a:pt x="943486" y="489012"/>
                  </a:cubicBezTo>
                  <a:lnTo>
                    <a:pt x="116376" y="489012"/>
                  </a:lnTo>
                  <a:cubicBezTo>
                    <a:pt x="52103" y="489012"/>
                    <a:pt x="0" y="436909"/>
                    <a:pt x="0" y="372636"/>
                  </a:cubicBezTo>
                  <a:lnTo>
                    <a:pt x="0" y="116376"/>
                  </a:lnTo>
                  <a:cubicBezTo>
                    <a:pt x="0" y="52103"/>
                    <a:pt x="52103" y="0"/>
                    <a:pt x="116376" y="0"/>
                  </a:cubicBezTo>
                  <a:close/>
                </a:path>
              </a:pathLst>
            </a:custGeom>
            <a:ln w="57150" cap="rnd">
              <a:solidFill>
                <a:srgbClr val="FFFFFF"/>
              </a:solidFill>
              <a:prstDash val="solid"/>
              <a:round/>
            </a:ln>
          </p:spPr>
        </p:sp>
        <p:sp>
          <p:nvSpPr>
            <p:cNvPr name="TextBox 20" id="20"/>
            <p:cNvSpPr txBox="true"/>
            <p:nvPr/>
          </p:nvSpPr>
          <p:spPr>
            <a:xfrm>
              <a:off x="0" y="-38100"/>
              <a:ext cx="1059862" cy="527112"/>
            </a:xfrm>
            <a:prstGeom prst="rect">
              <a:avLst/>
            </a:prstGeom>
          </p:spPr>
          <p:txBody>
            <a:bodyPr anchor="ctr" rtlCol="false" tIns="50800" lIns="50800" bIns="50800" rIns="50800"/>
            <a:lstStyle/>
            <a:p>
              <a:pPr algn="ctr">
                <a:lnSpc>
                  <a:spcPts val="2659"/>
                </a:lnSpc>
                <a:spcBef>
                  <a:spcPct val="0"/>
                </a:spcBef>
              </a:pPr>
            </a:p>
          </p:txBody>
        </p:sp>
      </p:grpSp>
      <p:grpSp>
        <p:nvGrpSpPr>
          <p:cNvPr name="Group 21" id="21"/>
          <p:cNvGrpSpPr/>
          <p:nvPr/>
        </p:nvGrpSpPr>
        <p:grpSpPr>
          <a:xfrm rot="0">
            <a:off x="14580484" y="7955168"/>
            <a:ext cx="3060155" cy="1411932"/>
            <a:chOff x="0" y="0"/>
            <a:chExt cx="1059862" cy="489012"/>
          </a:xfrm>
        </p:grpSpPr>
        <p:sp>
          <p:nvSpPr>
            <p:cNvPr name="Freeform 22" id="22"/>
            <p:cNvSpPr/>
            <p:nvPr/>
          </p:nvSpPr>
          <p:spPr>
            <a:xfrm flipH="false" flipV="false" rot="0">
              <a:off x="0" y="0"/>
              <a:ext cx="1059862" cy="489012"/>
            </a:xfrm>
            <a:custGeom>
              <a:avLst/>
              <a:gdLst/>
              <a:ahLst/>
              <a:cxnLst/>
              <a:rect r="r" b="b" t="t" l="l"/>
              <a:pathLst>
                <a:path h="489012" w="1059862">
                  <a:moveTo>
                    <a:pt x="116376" y="0"/>
                  </a:moveTo>
                  <a:lnTo>
                    <a:pt x="943486" y="0"/>
                  </a:lnTo>
                  <a:cubicBezTo>
                    <a:pt x="1007759" y="0"/>
                    <a:pt x="1059862" y="52103"/>
                    <a:pt x="1059862" y="116376"/>
                  </a:cubicBezTo>
                  <a:lnTo>
                    <a:pt x="1059862" y="372636"/>
                  </a:lnTo>
                  <a:cubicBezTo>
                    <a:pt x="1059862" y="403501"/>
                    <a:pt x="1047601" y="433102"/>
                    <a:pt x="1025777" y="454926"/>
                  </a:cubicBezTo>
                  <a:cubicBezTo>
                    <a:pt x="1003952" y="476751"/>
                    <a:pt x="974351" y="489012"/>
                    <a:pt x="943486" y="489012"/>
                  </a:cubicBezTo>
                  <a:lnTo>
                    <a:pt x="116376" y="489012"/>
                  </a:lnTo>
                  <a:cubicBezTo>
                    <a:pt x="52103" y="489012"/>
                    <a:pt x="0" y="436909"/>
                    <a:pt x="0" y="372636"/>
                  </a:cubicBezTo>
                  <a:lnTo>
                    <a:pt x="0" y="116376"/>
                  </a:lnTo>
                  <a:cubicBezTo>
                    <a:pt x="0" y="52103"/>
                    <a:pt x="52103" y="0"/>
                    <a:pt x="116376" y="0"/>
                  </a:cubicBezTo>
                  <a:close/>
                </a:path>
              </a:pathLst>
            </a:custGeom>
            <a:ln w="57150" cap="rnd">
              <a:solidFill>
                <a:srgbClr val="FFFFFF"/>
              </a:solidFill>
              <a:prstDash val="solid"/>
              <a:round/>
            </a:ln>
          </p:spPr>
        </p:sp>
        <p:sp>
          <p:nvSpPr>
            <p:cNvPr name="TextBox 23" id="23"/>
            <p:cNvSpPr txBox="true"/>
            <p:nvPr/>
          </p:nvSpPr>
          <p:spPr>
            <a:xfrm>
              <a:off x="0" y="-38100"/>
              <a:ext cx="1059862" cy="527112"/>
            </a:xfrm>
            <a:prstGeom prst="rect">
              <a:avLst/>
            </a:prstGeom>
          </p:spPr>
          <p:txBody>
            <a:bodyPr anchor="ctr" rtlCol="false" tIns="50800" lIns="50800" bIns="50800" rIns="50800"/>
            <a:lstStyle/>
            <a:p>
              <a:pPr algn="ctr">
                <a:lnSpc>
                  <a:spcPts val="2659"/>
                </a:lnSpc>
                <a:spcBef>
                  <a:spcPct val="0"/>
                </a:spcBef>
              </a:pPr>
            </a:p>
          </p:txBody>
        </p:sp>
      </p:grpSp>
      <p:sp>
        <p:nvSpPr>
          <p:cNvPr name="TextBox 24" id="24"/>
          <p:cNvSpPr txBox="true"/>
          <p:nvPr/>
        </p:nvSpPr>
        <p:spPr>
          <a:xfrm rot="0">
            <a:off x="1289632" y="2465441"/>
            <a:ext cx="15839140" cy="932180"/>
          </a:xfrm>
          <a:prstGeom prst="rect">
            <a:avLst/>
          </a:prstGeom>
        </p:spPr>
        <p:txBody>
          <a:bodyPr anchor="t" rtlCol="false" tIns="0" lIns="0" bIns="0" rIns="0">
            <a:spAutoFit/>
          </a:bodyPr>
          <a:lstStyle/>
          <a:p>
            <a:pPr algn="ctr">
              <a:lnSpc>
                <a:spcPts val="7420"/>
              </a:lnSpc>
            </a:pPr>
            <a:r>
              <a:rPr lang="en-US" b="true" sz="5300">
                <a:solidFill>
                  <a:srgbClr val="FFFFFF"/>
                </a:solidFill>
                <a:latin typeface="Helios Extended Bold"/>
                <a:ea typeface="Helios Extended Bold"/>
                <a:cs typeface="Helios Extended Bold"/>
                <a:sym typeface="Helios Extended Bold"/>
              </a:rPr>
              <a:t>REKAYASA PERANGKAT LUNAK</a:t>
            </a:r>
          </a:p>
        </p:txBody>
      </p:sp>
      <p:sp>
        <p:nvSpPr>
          <p:cNvPr name="TextBox 25" id="25"/>
          <p:cNvSpPr txBox="true"/>
          <p:nvPr/>
        </p:nvSpPr>
        <p:spPr>
          <a:xfrm rot="0">
            <a:off x="2738606" y="5092994"/>
            <a:ext cx="12941193" cy="598542"/>
          </a:xfrm>
          <a:prstGeom prst="rect">
            <a:avLst/>
          </a:prstGeom>
        </p:spPr>
        <p:txBody>
          <a:bodyPr anchor="t" rtlCol="false" tIns="0" lIns="0" bIns="0" rIns="0">
            <a:spAutoFit/>
          </a:bodyPr>
          <a:lstStyle/>
          <a:p>
            <a:pPr algn="ctr">
              <a:lnSpc>
                <a:spcPts val="4809"/>
              </a:lnSpc>
            </a:pPr>
            <a:r>
              <a:rPr lang="en-US" b="true" sz="3435">
                <a:solidFill>
                  <a:srgbClr val="FFFFFF"/>
                </a:solidFill>
                <a:latin typeface="Body Text Fit Bold"/>
                <a:ea typeface="Body Text Fit Bold"/>
                <a:cs typeface="Body Text Fit Bold"/>
                <a:sym typeface="Body Text Fit Bold"/>
              </a:rPr>
              <a:t>DEMO APLIKASI</a:t>
            </a:r>
          </a:p>
        </p:txBody>
      </p:sp>
      <p:sp>
        <p:nvSpPr>
          <p:cNvPr name="TextBox 26" id="26"/>
          <p:cNvSpPr txBox="true"/>
          <p:nvPr/>
        </p:nvSpPr>
        <p:spPr>
          <a:xfrm rot="0">
            <a:off x="883847" y="8782938"/>
            <a:ext cx="2895621" cy="318702"/>
          </a:xfrm>
          <a:prstGeom prst="rect">
            <a:avLst/>
          </a:prstGeom>
        </p:spPr>
        <p:txBody>
          <a:bodyPr anchor="t" rtlCol="false" tIns="0" lIns="0" bIns="0" rIns="0">
            <a:spAutoFit/>
          </a:bodyPr>
          <a:lstStyle/>
          <a:p>
            <a:pPr algn="ctr">
              <a:lnSpc>
                <a:spcPts val="2555"/>
              </a:lnSpc>
            </a:pPr>
            <a:r>
              <a:rPr lang="en-US" b="true" sz="2129" spc="-63">
                <a:solidFill>
                  <a:srgbClr val="FFFFFF"/>
                </a:solidFill>
                <a:latin typeface="Body Text Fit Bold"/>
                <a:ea typeface="Body Text Fit Bold"/>
                <a:cs typeface="Body Text Fit Bold"/>
                <a:sym typeface="Body Text Fit Bold"/>
              </a:rPr>
              <a:t>L0124022 </a:t>
            </a:r>
          </a:p>
        </p:txBody>
      </p:sp>
      <p:sp>
        <p:nvSpPr>
          <p:cNvPr name="TextBox 27" id="27"/>
          <p:cNvSpPr txBox="true"/>
          <p:nvPr/>
        </p:nvSpPr>
        <p:spPr>
          <a:xfrm rot="0">
            <a:off x="7761391" y="8811911"/>
            <a:ext cx="2895621" cy="318702"/>
          </a:xfrm>
          <a:prstGeom prst="rect">
            <a:avLst/>
          </a:prstGeom>
        </p:spPr>
        <p:txBody>
          <a:bodyPr anchor="t" rtlCol="false" tIns="0" lIns="0" bIns="0" rIns="0">
            <a:spAutoFit/>
          </a:bodyPr>
          <a:lstStyle/>
          <a:p>
            <a:pPr algn="ctr">
              <a:lnSpc>
                <a:spcPts val="2555"/>
              </a:lnSpc>
            </a:pPr>
            <a:r>
              <a:rPr lang="en-US" b="true" sz="2129" spc="-63">
                <a:solidFill>
                  <a:srgbClr val="FFFFFF"/>
                </a:solidFill>
                <a:latin typeface="Body Text Fit Bold"/>
                <a:ea typeface="Body Text Fit Bold"/>
                <a:cs typeface="Body Text Fit Bold"/>
                <a:sym typeface="Body Text Fit Bold"/>
              </a:rPr>
              <a:t>L0124030</a:t>
            </a:r>
          </a:p>
        </p:txBody>
      </p:sp>
      <p:sp>
        <p:nvSpPr>
          <p:cNvPr name="TextBox 28" id="28"/>
          <p:cNvSpPr txBox="true"/>
          <p:nvPr/>
        </p:nvSpPr>
        <p:spPr>
          <a:xfrm rot="0">
            <a:off x="4313821" y="8811911"/>
            <a:ext cx="2895621" cy="323850"/>
          </a:xfrm>
          <a:prstGeom prst="rect">
            <a:avLst/>
          </a:prstGeom>
        </p:spPr>
        <p:txBody>
          <a:bodyPr anchor="t" rtlCol="false" tIns="0" lIns="0" bIns="0" rIns="0">
            <a:spAutoFit/>
          </a:bodyPr>
          <a:lstStyle/>
          <a:p>
            <a:pPr algn="ctr">
              <a:lnSpc>
                <a:spcPts val="2555"/>
              </a:lnSpc>
            </a:pPr>
            <a:r>
              <a:rPr lang="en-US" b="true" sz="2129" spc="-63">
                <a:solidFill>
                  <a:srgbClr val="FFFFFF"/>
                </a:solidFill>
                <a:latin typeface="Body Text Fit Bold"/>
                <a:ea typeface="Body Text Fit Bold"/>
                <a:cs typeface="Body Text Fit Bold"/>
                <a:sym typeface="Body Text Fit Bold"/>
              </a:rPr>
              <a:t>L0124024</a:t>
            </a:r>
          </a:p>
        </p:txBody>
      </p:sp>
      <p:sp>
        <p:nvSpPr>
          <p:cNvPr name="TextBox 29" id="29"/>
          <p:cNvSpPr txBox="true"/>
          <p:nvPr/>
        </p:nvSpPr>
        <p:spPr>
          <a:xfrm rot="0">
            <a:off x="4396130" y="8195700"/>
            <a:ext cx="2895621" cy="296973"/>
          </a:xfrm>
          <a:prstGeom prst="rect">
            <a:avLst/>
          </a:prstGeom>
        </p:spPr>
        <p:txBody>
          <a:bodyPr anchor="t" rtlCol="false" tIns="0" lIns="0" bIns="0" rIns="0">
            <a:spAutoFit/>
          </a:bodyPr>
          <a:lstStyle/>
          <a:p>
            <a:pPr algn="ctr">
              <a:lnSpc>
                <a:spcPts val="2372"/>
              </a:lnSpc>
            </a:pPr>
            <a:r>
              <a:rPr lang="en-US" b="true" sz="1977" spc="-59">
                <a:solidFill>
                  <a:srgbClr val="FFFFFF"/>
                </a:solidFill>
                <a:latin typeface="Body Text Fit Bold"/>
                <a:ea typeface="Body Text Fit Bold"/>
                <a:cs typeface="Body Text Fit Bold"/>
                <a:sym typeface="Body Text Fit Bold"/>
              </a:rPr>
              <a:t>Muhammad Ihza</a:t>
            </a:r>
          </a:p>
        </p:txBody>
      </p:sp>
      <p:sp>
        <p:nvSpPr>
          <p:cNvPr name="TextBox 30" id="30"/>
          <p:cNvSpPr txBox="true"/>
          <p:nvPr/>
        </p:nvSpPr>
        <p:spPr>
          <a:xfrm rot="0">
            <a:off x="11212071" y="8811911"/>
            <a:ext cx="2895621" cy="318702"/>
          </a:xfrm>
          <a:prstGeom prst="rect">
            <a:avLst/>
          </a:prstGeom>
        </p:spPr>
        <p:txBody>
          <a:bodyPr anchor="t" rtlCol="false" tIns="0" lIns="0" bIns="0" rIns="0">
            <a:spAutoFit/>
          </a:bodyPr>
          <a:lstStyle/>
          <a:p>
            <a:pPr algn="ctr">
              <a:lnSpc>
                <a:spcPts val="2555"/>
              </a:lnSpc>
            </a:pPr>
            <a:r>
              <a:rPr lang="en-US" b="true" sz="2129" spc="-63">
                <a:solidFill>
                  <a:srgbClr val="FFFFFF"/>
                </a:solidFill>
                <a:latin typeface="Body Text Fit Bold"/>
                <a:ea typeface="Body Text Fit Bold"/>
                <a:cs typeface="Body Text Fit Bold"/>
                <a:sym typeface="Body Text Fit Bold"/>
              </a:rPr>
              <a:t>L0124031</a:t>
            </a:r>
          </a:p>
        </p:txBody>
      </p:sp>
      <p:sp>
        <p:nvSpPr>
          <p:cNvPr name="TextBox 31" id="31"/>
          <p:cNvSpPr txBox="true"/>
          <p:nvPr/>
        </p:nvSpPr>
        <p:spPr>
          <a:xfrm rot="0">
            <a:off x="14662751" y="8811911"/>
            <a:ext cx="2895621" cy="318702"/>
          </a:xfrm>
          <a:prstGeom prst="rect">
            <a:avLst/>
          </a:prstGeom>
        </p:spPr>
        <p:txBody>
          <a:bodyPr anchor="t" rtlCol="false" tIns="0" lIns="0" bIns="0" rIns="0">
            <a:spAutoFit/>
          </a:bodyPr>
          <a:lstStyle/>
          <a:p>
            <a:pPr algn="ctr">
              <a:lnSpc>
                <a:spcPts val="2555"/>
              </a:lnSpc>
            </a:pPr>
            <a:r>
              <a:rPr lang="en-US" b="true" sz="2129" spc="-63">
                <a:solidFill>
                  <a:srgbClr val="FFFFFF"/>
                </a:solidFill>
                <a:latin typeface="Body Text Fit Bold"/>
                <a:ea typeface="Body Text Fit Bold"/>
                <a:cs typeface="Body Text Fit Bold"/>
                <a:sym typeface="Body Text Fit Bold"/>
              </a:rPr>
              <a:t>L0124038</a:t>
            </a:r>
          </a:p>
        </p:txBody>
      </p:sp>
      <p:sp>
        <p:nvSpPr>
          <p:cNvPr name="TextBox 32" id="32"/>
          <p:cNvSpPr txBox="true"/>
          <p:nvPr/>
        </p:nvSpPr>
        <p:spPr>
          <a:xfrm rot="0">
            <a:off x="863183" y="8177561"/>
            <a:ext cx="2895621" cy="296973"/>
          </a:xfrm>
          <a:prstGeom prst="rect">
            <a:avLst/>
          </a:prstGeom>
        </p:spPr>
        <p:txBody>
          <a:bodyPr anchor="t" rtlCol="false" tIns="0" lIns="0" bIns="0" rIns="0">
            <a:spAutoFit/>
          </a:bodyPr>
          <a:lstStyle/>
          <a:p>
            <a:pPr algn="ctr">
              <a:lnSpc>
                <a:spcPts val="2372"/>
              </a:lnSpc>
            </a:pPr>
            <a:r>
              <a:rPr lang="en-US" b="true" sz="1977" spc="-59">
                <a:solidFill>
                  <a:srgbClr val="FFFFFF"/>
                </a:solidFill>
                <a:latin typeface="Body Text Fit Bold"/>
                <a:ea typeface="Body Text Fit Bold"/>
                <a:cs typeface="Body Text Fit Bold"/>
                <a:sym typeface="Body Text Fit Bold"/>
              </a:rPr>
              <a:t>Lutfiyah Istiana</a:t>
            </a:r>
          </a:p>
        </p:txBody>
      </p:sp>
      <p:sp>
        <p:nvSpPr>
          <p:cNvPr name="TextBox 33" id="33"/>
          <p:cNvSpPr txBox="true"/>
          <p:nvPr/>
        </p:nvSpPr>
        <p:spPr>
          <a:xfrm rot="0">
            <a:off x="7673802" y="8215945"/>
            <a:ext cx="2895621" cy="296973"/>
          </a:xfrm>
          <a:prstGeom prst="rect">
            <a:avLst/>
          </a:prstGeom>
        </p:spPr>
        <p:txBody>
          <a:bodyPr anchor="t" rtlCol="false" tIns="0" lIns="0" bIns="0" rIns="0">
            <a:spAutoFit/>
          </a:bodyPr>
          <a:lstStyle/>
          <a:p>
            <a:pPr algn="ctr">
              <a:lnSpc>
                <a:spcPts val="2372"/>
              </a:lnSpc>
            </a:pPr>
            <a:r>
              <a:rPr lang="en-US" b="true" sz="1977" spc="-59">
                <a:solidFill>
                  <a:srgbClr val="FFFFFF"/>
                </a:solidFill>
                <a:latin typeface="Body Text Fit Bold"/>
                <a:ea typeface="Body Text Fit Bold"/>
                <a:cs typeface="Body Text Fit Bold"/>
                <a:sym typeface="Body Text Fit Bold"/>
              </a:rPr>
              <a:t>Rafli Ahmad</a:t>
            </a:r>
          </a:p>
        </p:txBody>
      </p:sp>
      <p:sp>
        <p:nvSpPr>
          <p:cNvPr name="TextBox 34" id="34"/>
          <p:cNvSpPr txBox="true"/>
          <p:nvPr/>
        </p:nvSpPr>
        <p:spPr>
          <a:xfrm rot="0">
            <a:off x="11120279" y="8215945"/>
            <a:ext cx="2895621" cy="296973"/>
          </a:xfrm>
          <a:prstGeom prst="rect">
            <a:avLst/>
          </a:prstGeom>
        </p:spPr>
        <p:txBody>
          <a:bodyPr anchor="t" rtlCol="false" tIns="0" lIns="0" bIns="0" rIns="0">
            <a:spAutoFit/>
          </a:bodyPr>
          <a:lstStyle/>
          <a:p>
            <a:pPr algn="ctr">
              <a:lnSpc>
                <a:spcPts val="2372"/>
              </a:lnSpc>
            </a:pPr>
            <a:r>
              <a:rPr lang="en-US" b="true" sz="1977" spc="-59">
                <a:solidFill>
                  <a:srgbClr val="FFFFFF"/>
                </a:solidFill>
                <a:latin typeface="Body Text Fit Bold"/>
                <a:ea typeface="Body Text Fit Bold"/>
                <a:cs typeface="Body Text Fit Bold"/>
                <a:sym typeface="Body Text Fit Bold"/>
              </a:rPr>
              <a:t>Shafa Rifkika F</a:t>
            </a:r>
          </a:p>
        </p:txBody>
      </p:sp>
      <p:sp>
        <p:nvSpPr>
          <p:cNvPr name="TextBox 35" id="35"/>
          <p:cNvSpPr txBox="true"/>
          <p:nvPr/>
        </p:nvSpPr>
        <p:spPr>
          <a:xfrm rot="0">
            <a:off x="14685259" y="8166727"/>
            <a:ext cx="2895621" cy="296973"/>
          </a:xfrm>
          <a:prstGeom prst="rect">
            <a:avLst/>
          </a:prstGeom>
        </p:spPr>
        <p:txBody>
          <a:bodyPr anchor="t" rtlCol="false" tIns="0" lIns="0" bIns="0" rIns="0">
            <a:spAutoFit/>
          </a:bodyPr>
          <a:lstStyle/>
          <a:p>
            <a:pPr algn="ctr">
              <a:lnSpc>
                <a:spcPts val="2372"/>
              </a:lnSpc>
            </a:pPr>
            <a:r>
              <a:rPr lang="en-US" b="true" sz="1977" spc="-59">
                <a:solidFill>
                  <a:srgbClr val="FFFFFF"/>
                </a:solidFill>
                <a:latin typeface="Body Text Fit Bold"/>
                <a:ea typeface="Body Text Fit Bold"/>
                <a:cs typeface="Body Text Fit Bold"/>
                <a:sym typeface="Body Text Fit Bold"/>
              </a:rPr>
              <a:t>Andre Saputra</a:t>
            </a:r>
          </a:p>
        </p:txBody>
      </p:sp>
      <p:grpSp>
        <p:nvGrpSpPr>
          <p:cNvPr name="Group 36" id="36"/>
          <p:cNvGrpSpPr/>
          <p:nvPr/>
        </p:nvGrpSpPr>
        <p:grpSpPr>
          <a:xfrm rot="5400000">
            <a:off x="-419064" y="574894"/>
            <a:ext cx="1352603" cy="143919"/>
            <a:chOff x="0" y="0"/>
            <a:chExt cx="2404915" cy="255886"/>
          </a:xfrm>
        </p:grpSpPr>
        <p:sp>
          <p:nvSpPr>
            <p:cNvPr name="Freeform 37" id="37"/>
            <p:cNvSpPr/>
            <p:nvPr/>
          </p:nvSpPr>
          <p:spPr>
            <a:xfrm flipH="false" flipV="false" rot="0">
              <a:off x="0" y="0"/>
              <a:ext cx="2404915" cy="255886"/>
            </a:xfrm>
            <a:custGeom>
              <a:avLst/>
              <a:gdLst/>
              <a:ahLst/>
              <a:cxnLst/>
              <a:rect r="r" b="b" t="t" l="l"/>
              <a:pathLst>
                <a:path h="255886" w="2404915">
                  <a:moveTo>
                    <a:pt x="0" y="0"/>
                  </a:moveTo>
                  <a:lnTo>
                    <a:pt x="2404915" y="0"/>
                  </a:lnTo>
                  <a:lnTo>
                    <a:pt x="2404915" y="255886"/>
                  </a:lnTo>
                  <a:lnTo>
                    <a:pt x="0" y="255886"/>
                  </a:lnTo>
                  <a:close/>
                </a:path>
              </a:pathLst>
            </a:custGeom>
            <a:solidFill>
              <a:srgbClr val="FFE500"/>
            </a:solidFill>
          </p:spPr>
        </p:sp>
        <p:sp>
          <p:nvSpPr>
            <p:cNvPr name="TextBox 38" id="38"/>
            <p:cNvSpPr txBox="true"/>
            <p:nvPr/>
          </p:nvSpPr>
          <p:spPr>
            <a:xfrm>
              <a:off x="0" y="-47625"/>
              <a:ext cx="2404915" cy="303511"/>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256622" y="2772128"/>
            <a:ext cx="15774755" cy="5605241"/>
          </a:xfrm>
          <a:prstGeom prst="rect">
            <a:avLst/>
          </a:prstGeom>
        </p:spPr>
        <p:txBody>
          <a:bodyPr anchor="t" rtlCol="false" tIns="0" lIns="0" bIns="0" rIns="0">
            <a:spAutoFit/>
          </a:bodyPr>
          <a:lstStyle/>
          <a:p>
            <a:pPr algn="just">
              <a:lnSpc>
                <a:spcPts val="4474"/>
              </a:lnSpc>
            </a:pPr>
            <a:r>
              <a:rPr lang="en-US" sz="3196" spc="-95">
                <a:solidFill>
                  <a:srgbClr val="000000"/>
                </a:solidFill>
                <a:latin typeface="Glacial Indifference"/>
                <a:ea typeface="Glacial Indifference"/>
                <a:cs typeface="Glacial Indifference"/>
                <a:sym typeface="Glacial Indifference"/>
              </a:rPr>
              <a:t>Anggota tim dan ketua tim seringkali mengalami kesulitan dalam mengakses dalam mengakses materi dan memantau tugas ketika situasi sedang padat, berada di lokasi yang berbeda, dan banyaknya grup chat. Hal tersebut menyebabkan informasi penting dapat tertimbun dan terlewatkan. Sehingga dapat berdampak pada terjadinya miskomunikasi dan alur kerja yang tidak terorganisir. Selain itu, dosen pembina juga kesulitan saat memantau progres perkembangan tim di saat informasinya terpisah-pisah dan tidak terorganisir dengan baik.</a:t>
            </a:r>
          </a:p>
          <a:p>
            <a:pPr algn="just">
              <a:lnSpc>
                <a:spcPts val="4474"/>
              </a:lnSpc>
            </a:pPr>
          </a:p>
          <a:p>
            <a:pPr algn="just">
              <a:lnSpc>
                <a:spcPts val="4474"/>
              </a:lnSpc>
            </a:pPr>
            <a:r>
              <a:rPr lang="en-US" sz="3196" spc="-95">
                <a:solidFill>
                  <a:srgbClr val="000000"/>
                </a:solidFill>
                <a:latin typeface="Glacial Indifference"/>
                <a:ea typeface="Glacial Indifference"/>
                <a:cs typeface="Glacial Indifference"/>
                <a:sym typeface="Glacial Indifference"/>
              </a:rPr>
              <a:t>Solusi yang kami tawarkan dari masalah ini berupa aplikasi manajemen tim berbasis web dan terintegrasi dengan AI Chatbot yang diharapkan dapat membantu tim sehingga dapat meningkatkan efisiensi dan akuntabilitas kerja tim.</a:t>
            </a:r>
          </a:p>
        </p:txBody>
      </p:sp>
      <p:grpSp>
        <p:nvGrpSpPr>
          <p:cNvPr name="Group 3" id="3"/>
          <p:cNvGrpSpPr/>
          <p:nvPr/>
        </p:nvGrpSpPr>
        <p:grpSpPr>
          <a:xfrm rot="0">
            <a:off x="0" y="3815"/>
            <a:ext cx="18288000" cy="1600285"/>
            <a:chOff x="0" y="0"/>
            <a:chExt cx="4816593" cy="421474"/>
          </a:xfrm>
        </p:grpSpPr>
        <p:sp>
          <p:nvSpPr>
            <p:cNvPr name="Freeform 4" id="4"/>
            <p:cNvSpPr/>
            <p:nvPr/>
          </p:nvSpPr>
          <p:spPr>
            <a:xfrm flipH="false" flipV="false" rot="0">
              <a:off x="0" y="0"/>
              <a:ext cx="4816592" cy="421474"/>
            </a:xfrm>
            <a:custGeom>
              <a:avLst/>
              <a:gdLst/>
              <a:ahLst/>
              <a:cxnLst/>
              <a:rect r="r" b="b" t="t" l="l"/>
              <a:pathLst>
                <a:path h="421474" w="4816592">
                  <a:moveTo>
                    <a:pt x="0" y="0"/>
                  </a:moveTo>
                  <a:lnTo>
                    <a:pt x="4816592" y="0"/>
                  </a:lnTo>
                  <a:lnTo>
                    <a:pt x="4816592" y="421474"/>
                  </a:lnTo>
                  <a:lnTo>
                    <a:pt x="0" y="421474"/>
                  </a:lnTo>
                  <a:close/>
                </a:path>
              </a:pathLst>
            </a:custGeom>
            <a:gradFill rotWithShape="true">
              <a:gsLst>
                <a:gs pos="0">
                  <a:srgbClr val="007DFF">
                    <a:alpha val="100000"/>
                  </a:srgbClr>
                </a:gs>
                <a:gs pos="100000">
                  <a:srgbClr val="0CB9EF">
                    <a:alpha val="100000"/>
                  </a:srgbClr>
                </a:gs>
              </a:gsLst>
              <a:lin ang="2700000"/>
            </a:gradFill>
          </p:spPr>
        </p:sp>
        <p:sp>
          <p:nvSpPr>
            <p:cNvPr name="TextBox 5" id="5"/>
            <p:cNvSpPr txBox="true"/>
            <p:nvPr/>
          </p:nvSpPr>
          <p:spPr>
            <a:xfrm>
              <a:off x="0" y="-47625"/>
              <a:ext cx="4816593" cy="469099"/>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5400000">
            <a:off x="2399317" y="-979248"/>
            <a:ext cx="146365" cy="2887599"/>
            <a:chOff x="0" y="0"/>
            <a:chExt cx="260235" cy="5134124"/>
          </a:xfrm>
        </p:grpSpPr>
        <p:sp>
          <p:nvSpPr>
            <p:cNvPr name="Freeform 7" id="7"/>
            <p:cNvSpPr/>
            <p:nvPr/>
          </p:nvSpPr>
          <p:spPr>
            <a:xfrm flipH="false" flipV="false" rot="0">
              <a:off x="0" y="0"/>
              <a:ext cx="260235" cy="5134124"/>
            </a:xfrm>
            <a:custGeom>
              <a:avLst/>
              <a:gdLst/>
              <a:ahLst/>
              <a:cxnLst/>
              <a:rect r="r" b="b" t="t" l="l"/>
              <a:pathLst>
                <a:path h="5134124" w="260235">
                  <a:moveTo>
                    <a:pt x="0" y="0"/>
                  </a:moveTo>
                  <a:lnTo>
                    <a:pt x="260235" y="0"/>
                  </a:lnTo>
                  <a:lnTo>
                    <a:pt x="260235" y="5134124"/>
                  </a:lnTo>
                  <a:lnTo>
                    <a:pt x="0" y="5134124"/>
                  </a:lnTo>
                  <a:close/>
                </a:path>
              </a:pathLst>
            </a:custGeom>
            <a:solidFill>
              <a:srgbClr val="FFE500"/>
            </a:solidFill>
          </p:spPr>
        </p:sp>
        <p:sp>
          <p:nvSpPr>
            <p:cNvPr name="TextBox 8" id="8"/>
            <p:cNvSpPr txBox="true"/>
            <p:nvPr/>
          </p:nvSpPr>
          <p:spPr>
            <a:xfrm>
              <a:off x="0" y="-47625"/>
              <a:ext cx="260235" cy="5181749"/>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1028700" y="585507"/>
            <a:ext cx="5669927" cy="631039"/>
          </a:xfrm>
          <a:prstGeom prst="rect">
            <a:avLst/>
          </a:prstGeom>
        </p:spPr>
        <p:txBody>
          <a:bodyPr anchor="t" rtlCol="false" tIns="0" lIns="0" bIns="0" rIns="0">
            <a:spAutoFit/>
          </a:bodyPr>
          <a:lstStyle/>
          <a:p>
            <a:pPr algn="l">
              <a:lnSpc>
                <a:spcPts val="5118"/>
              </a:lnSpc>
            </a:pPr>
            <a:r>
              <a:rPr lang="en-US" sz="3655" b="true">
                <a:solidFill>
                  <a:srgbClr val="FFFFFF"/>
                </a:solidFill>
                <a:latin typeface="Glacial Indifference Bold"/>
                <a:ea typeface="Glacial Indifference Bold"/>
                <a:cs typeface="Glacial Indifference Bold"/>
                <a:sym typeface="Glacial Indifference Bold"/>
              </a:rPr>
              <a:t>Problem Statement</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3815"/>
            <a:ext cx="18288000" cy="1600285"/>
            <a:chOff x="0" y="0"/>
            <a:chExt cx="4816593" cy="421474"/>
          </a:xfrm>
        </p:grpSpPr>
        <p:sp>
          <p:nvSpPr>
            <p:cNvPr name="Freeform 3" id="3"/>
            <p:cNvSpPr/>
            <p:nvPr/>
          </p:nvSpPr>
          <p:spPr>
            <a:xfrm flipH="false" flipV="false" rot="0">
              <a:off x="0" y="0"/>
              <a:ext cx="4816592" cy="421474"/>
            </a:xfrm>
            <a:custGeom>
              <a:avLst/>
              <a:gdLst/>
              <a:ahLst/>
              <a:cxnLst/>
              <a:rect r="r" b="b" t="t" l="l"/>
              <a:pathLst>
                <a:path h="421474" w="4816592">
                  <a:moveTo>
                    <a:pt x="0" y="0"/>
                  </a:moveTo>
                  <a:lnTo>
                    <a:pt x="4816592" y="0"/>
                  </a:lnTo>
                  <a:lnTo>
                    <a:pt x="4816592" y="421474"/>
                  </a:lnTo>
                  <a:lnTo>
                    <a:pt x="0" y="421474"/>
                  </a:lnTo>
                  <a:close/>
                </a:path>
              </a:pathLst>
            </a:custGeom>
            <a:gradFill rotWithShape="true">
              <a:gsLst>
                <a:gs pos="0">
                  <a:srgbClr val="007DFF">
                    <a:alpha val="100000"/>
                  </a:srgbClr>
                </a:gs>
                <a:gs pos="100000">
                  <a:srgbClr val="0CB9EF">
                    <a:alpha val="100000"/>
                  </a:srgbClr>
                </a:gs>
              </a:gsLst>
              <a:lin ang="2700000"/>
            </a:gradFill>
          </p:spPr>
        </p:sp>
        <p:sp>
          <p:nvSpPr>
            <p:cNvPr name="TextBox 4" id="4"/>
            <p:cNvSpPr txBox="true"/>
            <p:nvPr/>
          </p:nvSpPr>
          <p:spPr>
            <a:xfrm>
              <a:off x="0" y="-47625"/>
              <a:ext cx="4816593" cy="469099"/>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5400000">
            <a:off x="2399317" y="-979248"/>
            <a:ext cx="146365" cy="2887599"/>
            <a:chOff x="0" y="0"/>
            <a:chExt cx="260235" cy="5134124"/>
          </a:xfrm>
        </p:grpSpPr>
        <p:sp>
          <p:nvSpPr>
            <p:cNvPr name="Freeform 6" id="6"/>
            <p:cNvSpPr/>
            <p:nvPr/>
          </p:nvSpPr>
          <p:spPr>
            <a:xfrm flipH="false" flipV="false" rot="0">
              <a:off x="0" y="0"/>
              <a:ext cx="260235" cy="5134124"/>
            </a:xfrm>
            <a:custGeom>
              <a:avLst/>
              <a:gdLst/>
              <a:ahLst/>
              <a:cxnLst/>
              <a:rect r="r" b="b" t="t" l="l"/>
              <a:pathLst>
                <a:path h="5134124" w="260235">
                  <a:moveTo>
                    <a:pt x="0" y="0"/>
                  </a:moveTo>
                  <a:lnTo>
                    <a:pt x="260235" y="0"/>
                  </a:lnTo>
                  <a:lnTo>
                    <a:pt x="260235" y="5134124"/>
                  </a:lnTo>
                  <a:lnTo>
                    <a:pt x="0" y="5134124"/>
                  </a:lnTo>
                  <a:close/>
                </a:path>
              </a:pathLst>
            </a:custGeom>
            <a:solidFill>
              <a:srgbClr val="FFE500"/>
            </a:solidFill>
          </p:spPr>
        </p:sp>
        <p:sp>
          <p:nvSpPr>
            <p:cNvPr name="TextBox 7" id="7"/>
            <p:cNvSpPr txBox="true"/>
            <p:nvPr/>
          </p:nvSpPr>
          <p:spPr>
            <a:xfrm>
              <a:off x="0" y="-47625"/>
              <a:ext cx="260235" cy="5181749"/>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501184" y="2221582"/>
            <a:ext cx="10890125" cy="5261291"/>
          </a:xfrm>
          <a:custGeom>
            <a:avLst/>
            <a:gdLst/>
            <a:ahLst/>
            <a:cxnLst/>
            <a:rect r="r" b="b" t="t" l="l"/>
            <a:pathLst>
              <a:path h="5261291" w="10890125">
                <a:moveTo>
                  <a:pt x="0" y="0"/>
                </a:moveTo>
                <a:lnTo>
                  <a:pt x="10890125" y="0"/>
                </a:lnTo>
                <a:lnTo>
                  <a:pt x="10890125" y="5261291"/>
                </a:lnTo>
                <a:lnTo>
                  <a:pt x="0" y="5261291"/>
                </a:lnTo>
                <a:lnTo>
                  <a:pt x="0" y="0"/>
                </a:lnTo>
                <a:close/>
              </a:path>
            </a:pathLst>
          </a:custGeom>
          <a:blipFill>
            <a:blip r:embed="rId2"/>
            <a:stretch>
              <a:fillRect l="0" t="0" r="0" b="0"/>
            </a:stretch>
          </a:blipFill>
          <a:ln w="57150" cap="sq">
            <a:gradFill>
              <a:gsLst>
                <a:gs pos="0">
                  <a:srgbClr val="007DFF">
                    <a:alpha val="100000"/>
                  </a:srgbClr>
                </a:gs>
                <a:gs pos="100000">
                  <a:srgbClr val="0CB9EF">
                    <a:alpha val="100000"/>
                  </a:srgbClr>
                </a:gs>
              </a:gsLst>
              <a:lin ang="2700000"/>
            </a:gradFill>
            <a:prstDash val="solid"/>
            <a:miter/>
          </a:ln>
        </p:spPr>
      </p:sp>
      <p:sp>
        <p:nvSpPr>
          <p:cNvPr name="TextBox 9" id="9"/>
          <p:cNvSpPr txBox="true"/>
          <p:nvPr/>
        </p:nvSpPr>
        <p:spPr>
          <a:xfrm rot="0">
            <a:off x="1028700" y="585507"/>
            <a:ext cx="13601504" cy="631039"/>
          </a:xfrm>
          <a:prstGeom prst="rect">
            <a:avLst/>
          </a:prstGeom>
        </p:spPr>
        <p:txBody>
          <a:bodyPr anchor="t" rtlCol="false" tIns="0" lIns="0" bIns="0" rIns="0">
            <a:spAutoFit/>
          </a:bodyPr>
          <a:lstStyle/>
          <a:p>
            <a:pPr algn="l">
              <a:lnSpc>
                <a:spcPts val="5118"/>
              </a:lnSpc>
            </a:pPr>
            <a:r>
              <a:rPr lang="en-US" sz="3655" b="true">
                <a:solidFill>
                  <a:srgbClr val="FFFFFF"/>
                </a:solidFill>
                <a:latin typeface="Glacial Indifference Bold"/>
                <a:ea typeface="Glacial Indifference Bold"/>
                <a:cs typeface="Glacial Indifference Bold"/>
                <a:sym typeface="Glacial Indifference Bold"/>
              </a:rPr>
              <a:t>Fitur Role Ketua tim : Memberi Tugas Pada Anggota</a:t>
            </a:r>
          </a:p>
        </p:txBody>
      </p:sp>
      <p:sp>
        <p:nvSpPr>
          <p:cNvPr name="TextBox 10" id="10"/>
          <p:cNvSpPr txBox="true"/>
          <p:nvPr/>
        </p:nvSpPr>
        <p:spPr>
          <a:xfrm rot="0">
            <a:off x="11776041" y="2218768"/>
            <a:ext cx="6259149" cy="2954727"/>
          </a:xfrm>
          <a:prstGeom prst="rect">
            <a:avLst/>
          </a:prstGeom>
        </p:spPr>
        <p:txBody>
          <a:bodyPr anchor="t" rtlCol="false" tIns="0" lIns="0" bIns="0" rIns="0">
            <a:spAutoFit/>
          </a:bodyPr>
          <a:lstStyle/>
          <a:p>
            <a:pPr algn="just">
              <a:lnSpc>
                <a:spcPts val="3400"/>
              </a:lnSpc>
            </a:pPr>
            <a:r>
              <a:rPr lang="en-US" sz="2428" spc="-72">
                <a:solidFill>
                  <a:srgbClr val="000000"/>
                </a:solidFill>
                <a:latin typeface="Glacial Indifference"/>
                <a:ea typeface="Glacial Indifference"/>
                <a:cs typeface="Glacial Indifference"/>
                <a:sym typeface="Glacial Indifference"/>
              </a:rPr>
              <a:t>Ketua tim dapat mengirim tugas kepada anggotanya dengan menggunakan email anggota yang ingin diberi tugas.</a:t>
            </a:r>
          </a:p>
          <a:p>
            <a:pPr algn="just">
              <a:lnSpc>
                <a:spcPts val="3400"/>
              </a:lnSpc>
            </a:pPr>
            <a:r>
              <a:rPr lang="en-US" sz="2428" spc="-72">
                <a:solidFill>
                  <a:srgbClr val="000000"/>
                </a:solidFill>
                <a:latin typeface="Glacial Indifference"/>
                <a:ea typeface="Glacial Indifference"/>
                <a:cs typeface="Glacial Indifference"/>
                <a:sym typeface="Glacial Indifference"/>
              </a:rPr>
              <a:t>ketua tim dapat menambahkan Judul Tugas, Memilih nggota yang ditugaskan, Deskripsi tugas, Tenggat, dan Lampiran untuk menunjang penugasan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3815"/>
            <a:ext cx="18288000" cy="1600285"/>
            <a:chOff x="0" y="0"/>
            <a:chExt cx="4816593" cy="421474"/>
          </a:xfrm>
        </p:grpSpPr>
        <p:sp>
          <p:nvSpPr>
            <p:cNvPr name="Freeform 3" id="3"/>
            <p:cNvSpPr/>
            <p:nvPr/>
          </p:nvSpPr>
          <p:spPr>
            <a:xfrm flipH="false" flipV="false" rot="0">
              <a:off x="0" y="0"/>
              <a:ext cx="4816592" cy="421474"/>
            </a:xfrm>
            <a:custGeom>
              <a:avLst/>
              <a:gdLst/>
              <a:ahLst/>
              <a:cxnLst/>
              <a:rect r="r" b="b" t="t" l="l"/>
              <a:pathLst>
                <a:path h="421474" w="4816592">
                  <a:moveTo>
                    <a:pt x="0" y="0"/>
                  </a:moveTo>
                  <a:lnTo>
                    <a:pt x="4816592" y="0"/>
                  </a:lnTo>
                  <a:lnTo>
                    <a:pt x="4816592" y="421474"/>
                  </a:lnTo>
                  <a:lnTo>
                    <a:pt x="0" y="421474"/>
                  </a:lnTo>
                  <a:close/>
                </a:path>
              </a:pathLst>
            </a:custGeom>
            <a:gradFill rotWithShape="true">
              <a:gsLst>
                <a:gs pos="0">
                  <a:srgbClr val="007DFF">
                    <a:alpha val="100000"/>
                  </a:srgbClr>
                </a:gs>
                <a:gs pos="100000">
                  <a:srgbClr val="0CB9EF">
                    <a:alpha val="100000"/>
                  </a:srgbClr>
                </a:gs>
              </a:gsLst>
              <a:lin ang="2700000"/>
            </a:gradFill>
          </p:spPr>
        </p:sp>
        <p:sp>
          <p:nvSpPr>
            <p:cNvPr name="TextBox 4" id="4"/>
            <p:cNvSpPr txBox="true"/>
            <p:nvPr/>
          </p:nvSpPr>
          <p:spPr>
            <a:xfrm>
              <a:off x="0" y="-47625"/>
              <a:ext cx="4816593" cy="469099"/>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5400000">
            <a:off x="2399317" y="-979248"/>
            <a:ext cx="146365" cy="2887599"/>
            <a:chOff x="0" y="0"/>
            <a:chExt cx="260235" cy="5134124"/>
          </a:xfrm>
        </p:grpSpPr>
        <p:sp>
          <p:nvSpPr>
            <p:cNvPr name="Freeform 6" id="6"/>
            <p:cNvSpPr/>
            <p:nvPr/>
          </p:nvSpPr>
          <p:spPr>
            <a:xfrm flipH="false" flipV="false" rot="0">
              <a:off x="0" y="0"/>
              <a:ext cx="260235" cy="5134124"/>
            </a:xfrm>
            <a:custGeom>
              <a:avLst/>
              <a:gdLst/>
              <a:ahLst/>
              <a:cxnLst/>
              <a:rect r="r" b="b" t="t" l="l"/>
              <a:pathLst>
                <a:path h="5134124" w="260235">
                  <a:moveTo>
                    <a:pt x="0" y="0"/>
                  </a:moveTo>
                  <a:lnTo>
                    <a:pt x="260235" y="0"/>
                  </a:lnTo>
                  <a:lnTo>
                    <a:pt x="260235" y="5134124"/>
                  </a:lnTo>
                  <a:lnTo>
                    <a:pt x="0" y="5134124"/>
                  </a:lnTo>
                  <a:close/>
                </a:path>
              </a:pathLst>
            </a:custGeom>
            <a:solidFill>
              <a:srgbClr val="FFE500"/>
            </a:solidFill>
          </p:spPr>
        </p:sp>
        <p:sp>
          <p:nvSpPr>
            <p:cNvPr name="TextBox 7" id="7"/>
            <p:cNvSpPr txBox="true"/>
            <p:nvPr/>
          </p:nvSpPr>
          <p:spPr>
            <a:xfrm>
              <a:off x="0" y="-47625"/>
              <a:ext cx="260235" cy="5181749"/>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501184" y="2266393"/>
            <a:ext cx="10811358" cy="5216480"/>
          </a:xfrm>
          <a:custGeom>
            <a:avLst/>
            <a:gdLst/>
            <a:ahLst/>
            <a:cxnLst/>
            <a:rect r="r" b="b" t="t" l="l"/>
            <a:pathLst>
              <a:path h="5216480" w="10811358">
                <a:moveTo>
                  <a:pt x="0" y="0"/>
                </a:moveTo>
                <a:lnTo>
                  <a:pt x="10811358" y="0"/>
                </a:lnTo>
                <a:lnTo>
                  <a:pt x="10811358" y="5216480"/>
                </a:lnTo>
                <a:lnTo>
                  <a:pt x="0" y="5216480"/>
                </a:lnTo>
                <a:lnTo>
                  <a:pt x="0" y="0"/>
                </a:lnTo>
                <a:close/>
              </a:path>
            </a:pathLst>
          </a:custGeom>
          <a:blipFill>
            <a:blip r:embed="rId2"/>
            <a:stretch>
              <a:fillRect l="0" t="0" r="0" b="0"/>
            </a:stretch>
          </a:blipFill>
          <a:ln w="28575" cap="sq">
            <a:gradFill>
              <a:gsLst>
                <a:gs pos="0">
                  <a:srgbClr val="007DFF">
                    <a:alpha val="100000"/>
                  </a:srgbClr>
                </a:gs>
                <a:gs pos="100000">
                  <a:srgbClr val="0CB9EF">
                    <a:alpha val="100000"/>
                  </a:srgbClr>
                </a:gs>
              </a:gsLst>
              <a:lin ang="2700000"/>
            </a:gradFill>
            <a:prstDash val="solid"/>
            <a:miter/>
          </a:ln>
        </p:spPr>
      </p:sp>
      <p:sp>
        <p:nvSpPr>
          <p:cNvPr name="TextBox 9" id="9"/>
          <p:cNvSpPr txBox="true"/>
          <p:nvPr/>
        </p:nvSpPr>
        <p:spPr>
          <a:xfrm rot="0">
            <a:off x="1028700" y="585507"/>
            <a:ext cx="13601504" cy="631039"/>
          </a:xfrm>
          <a:prstGeom prst="rect">
            <a:avLst/>
          </a:prstGeom>
        </p:spPr>
        <p:txBody>
          <a:bodyPr anchor="t" rtlCol="false" tIns="0" lIns="0" bIns="0" rIns="0">
            <a:spAutoFit/>
          </a:bodyPr>
          <a:lstStyle/>
          <a:p>
            <a:pPr algn="l">
              <a:lnSpc>
                <a:spcPts val="5118"/>
              </a:lnSpc>
            </a:pPr>
            <a:r>
              <a:rPr lang="en-US" sz="3655" b="true">
                <a:solidFill>
                  <a:srgbClr val="FFFFFF"/>
                </a:solidFill>
                <a:latin typeface="Glacial Indifference Bold"/>
                <a:ea typeface="Glacial Indifference Bold"/>
                <a:cs typeface="Glacial Indifference Bold"/>
                <a:sym typeface="Glacial Indifference Bold"/>
              </a:rPr>
              <a:t>Fitur Role Pelatih : Memberi Materi Pada Anggota</a:t>
            </a:r>
          </a:p>
        </p:txBody>
      </p:sp>
      <p:sp>
        <p:nvSpPr>
          <p:cNvPr name="TextBox 10" id="10"/>
          <p:cNvSpPr txBox="true"/>
          <p:nvPr/>
        </p:nvSpPr>
        <p:spPr>
          <a:xfrm rot="0">
            <a:off x="11776041" y="2218768"/>
            <a:ext cx="6259149" cy="2106501"/>
          </a:xfrm>
          <a:prstGeom prst="rect">
            <a:avLst/>
          </a:prstGeom>
        </p:spPr>
        <p:txBody>
          <a:bodyPr anchor="t" rtlCol="false" tIns="0" lIns="0" bIns="0" rIns="0">
            <a:spAutoFit/>
          </a:bodyPr>
          <a:lstStyle/>
          <a:p>
            <a:pPr algn="just">
              <a:lnSpc>
                <a:spcPts val="3400"/>
              </a:lnSpc>
            </a:pPr>
            <a:r>
              <a:rPr lang="en-US" sz="2428" spc="-72">
                <a:solidFill>
                  <a:srgbClr val="000000"/>
                </a:solidFill>
                <a:latin typeface="Glacial Indifference"/>
                <a:ea typeface="Glacial Indifference"/>
                <a:cs typeface="Glacial Indifference"/>
                <a:sym typeface="Glacial Indifference"/>
              </a:rPr>
              <a:t>Pelatih dapat mengirim materi kepada anggota divisinya.</a:t>
            </a:r>
          </a:p>
          <a:p>
            <a:pPr algn="just">
              <a:lnSpc>
                <a:spcPts val="3400"/>
              </a:lnSpc>
            </a:pPr>
            <a:r>
              <a:rPr lang="en-US" sz="2428" spc="-72">
                <a:solidFill>
                  <a:srgbClr val="000000"/>
                </a:solidFill>
                <a:latin typeface="Glacial Indifference"/>
                <a:ea typeface="Glacial Indifference"/>
                <a:cs typeface="Glacial Indifference"/>
                <a:sym typeface="Glacial Indifference"/>
              </a:rPr>
              <a:t>Pelatih dapat memilih divisi yang akan diberi materi, Judul materi, Deskripsi, dan Lampiran materi</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3815"/>
            <a:ext cx="18288000" cy="1600285"/>
            <a:chOff x="0" y="0"/>
            <a:chExt cx="4816593" cy="421474"/>
          </a:xfrm>
        </p:grpSpPr>
        <p:sp>
          <p:nvSpPr>
            <p:cNvPr name="Freeform 3" id="3"/>
            <p:cNvSpPr/>
            <p:nvPr/>
          </p:nvSpPr>
          <p:spPr>
            <a:xfrm flipH="false" flipV="false" rot="0">
              <a:off x="0" y="0"/>
              <a:ext cx="4816592" cy="421474"/>
            </a:xfrm>
            <a:custGeom>
              <a:avLst/>
              <a:gdLst/>
              <a:ahLst/>
              <a:cxnLst/>
              <a:rect r="r" b="b" t="t" l="l"/>
              <a:pathLst>
                <a:path h="421474" w="4816592">
                  <a:moveTo>
                    <a:pt x="0" y="0"/>
                  </a:moveTo>
                  <a:lnTo>
                    <a:pt x="4816592" y="0"/>
                  </a:lnTo>
                  <a:lnTo>
                    <a:pt x="4816592" y="421474"/>
                  </a:lnTo>
                  <a:lnTo>
                    <a:pt x="0" y="421474"/>
                  </a:lnTo>
                  <a:close/>
                </a:path>
              </a:pathLst>
            </a:custGeom>
            <a:gradFill rotWithShape="true">
              <a:gsLst>
                <a:gs pos="0">
                  <a:srgbClr val="007DFF">
                    <a:alpha val="100000"/>
                  </a:srgbClr>
                </a:gs>
                <a:gs pos="100000">
                  <a:srgbClr val="0CB9EF">
                    <a:alpha val="100000"/>
                  </a:srgbClr>
                </a:gs>
              </a:gsLst>
              <a:lin ang="2700000"/>
            </a:gradFill>
          </p:spPr>
        </p:sp>
        <p:sp>
          <p:nvSpPr>
            <p:cNvPr name="TextBox 4" id="4"/>
            <p:cNvSpPr txBox="true"/>
            <p:nvPr/>
          </p:nvSpPr>
          <p:spPr>
            <a:xfrm>
              <a:off x="0" y="-47625"/>
              <a:ext cx="4816593" cy="469099"/>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5400000">
            <a:off x="2399317" y="-979248"/>
            <a:ext cx="146365" cy="2887599"/>
            <a:chOff x="0" y="0"/>
            <a:chExt cx="260235" cy="5134124"/>
          </a:xfrm>
        </p:grpSpPr>
        <p:sp>
          <p:nvSpPr>
            <p:cNvPr name="Freeform 6" id="6"/>
            <p:cNvSpPr/>
            <p:nvPr/>
          </p:nvSpPr>
          <p:spPr>
            <a:xfrm flipH="false" flipV="false" rot="0">
              <a:off x="0" y="0"/>
              <a:ext cx="260235" cy="5134124"/>
            </a:xfrm>
            <a:custGeom>
              <a:avLst/>
              <a:gdLst/>
              <a:ahLst/>
              <a:cxnLst/>
              <a:rect r="r" b="b" t="t" l="l"/>
              <a:pathLst>
                <a:path h="5134124" w="260235">
                  <a:moveTo>
                    <a:pt x="0" y="0"/>
                  </a:moveTo>
                  <a:lnTo>
                    <a:pt x="260235" y="0"/>
                  </a:lnTo>
                  <a:lnTo>
                    <a:pt x="260235" y="5134124"/>
                  </a:lnTo>
                  <a:lnTo>
                    <a:pt x="0" y="5134124"/>
                  </a:lnTo>
                  <a:close/>
                </a:path>
              </a:pathLst>
            </a:custGeom>
            <a:solidFill>
              <a:srgbClr val="FFE500"/>
            </a:solidFill>
          </p:spPr>
        </p:sp>
        <p:sp>
          <p:nvSpPr>
            <p:cNvPr name="TextBox 7" id="7"/>
            <p:cNvSpPr txBox="true"/>
            <p:nvPr/>
          </p:nvSpPr>
          <p:spPr>
            <a:xfrm>
              <a:off x="0" y="-47625"/>
              <a:ext cx="260235" cy="5181749"/>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518165" y="2268063"/>
            <a:ext cx="10760550" cy="5171789"/>
          </a:xfrm>
          <a:custGeom>
            <a:avLst/>
            <a:gdLst/>
            <a:ahLst/>
            <a:cxnLst/>
            <a:rect r="r" b="b" t="t" l="l"/>
            <a:pathLst>
              <a:path h="5171789" w="10760550">
                <a:moveTo>
                  <a:pt x="0" y="0"/>
                </a:moveTo>
                <a:lnTo>
                  <a:pt x="10760550" y="0"/>
                </a:lnTo>
                <a:lnTo>
                  <a:pt x="10760550" y="5171789"/>
                </a:lnTo>
                <a:lnTo>
                  <a:pt x="0" y="5171789"/>
                </a:lnTo>
                <a:lnTo>
                  <a:pt x="0" y="0"/>
                </a:lnTo>
                <a:close/>
              </a:path>
            </a:pathLst>
          </a:custGeom>
          <a:blipFill>
            <a:blip r:embed="rId2"/>
            <a:stretch>
              <a:fillRect l="0" t="0" r="0" b="0"/>
            </a:stretch>
          </a:blipFill>
          <a:ln w="47625" cap="sq">
            <a:gradFill>
              <a:gsLst>
                <a:gs pos="0">
                  <a:srgbClr val="007DFF">
                    <a:alpha val="100000"/>
                  </a:srgbClr>
                </a:gs>
                <a:gs pos="100000">
                  <a:srgbClr val="0CB9EF">
                    <a:alpha val="100000"/>
                  </a:srgbClr>
                </a:gs>
              </a:gsLst>
              <a:lin ang="2700000"/>
            </a:gradFill>
            <a:prstDash val="solid"/>
            <a:miter/>
          </a:ln>
        </p:spPr>
      </p:sp>
      <p:sp>
        <p:nvSpPr>
          <p:cNvPr name="TextBox 9" id="9"/>
          <p:cNvSpPr txBox="true"/>
          <p:nvPr/>
        </p:nvSpPr>
        <p:spPr>
          <a:xfrm rot="0">
            <a:off x="1028700" y="585507"/>
            <a:ext cx="13601504" cy="631039"/>
          </a:xfrm>
          <a:prstGeom prst="rect">
            <a:avLst/>
          </a:prstGeom>
        </p:spPr>
        <p:txBody>
          <a:bodyPr anchor="t" rtlCol="false" tIns="0" lIns="0" bIns="0" rIns="0">
            <a:spAutoFit/>
          </a:bodyPr>
          <a:lstStyle/>
          <a:p>
            <a:pPr algn="l">
              <a:lnSpc>
                <a:spcPts val="5118"/>
              </a:lnSpc>
            </a:pPr>
            <a:r>
              <a:rPr lang="en-US" sz="3655" b="true">
                <a:solidFill>
                  <a:srgbClr val="FFFFFF"/>
                </a:solidFill>
                <a:latin typeface="Glacial Indifference Bold"/>
                <a:ea typeface="Glacial Indifference Bold"/>
                <a:cs typeface="Glacial Indifference Bold"/>
                <a:sym typeface="Glacial Indifference Bold"/>
              </a:rPr>
              <a:t>Fitur Role Anggota : Mengirim Tugas</a:t>
            </a:r>
          </a:p>
        </p:txBody>
      </p:sp>
      <p:sp>
        <p:nvSpPr>
          <p:cNvPr name="TextBox 10" id="10"/>
          <p:cNvSpPr txBox="true"/>
          <p:nvPr/>
        </p:nvSpPr>
        <p:spPr>
          <a:xfrm rot="0">
            <a:off x="11776041" y="2218768"/>
            <a:ext cx="6259149" cy="2954727"/>
          </a:xfrm>
          <a:prstGeom prst="rect">
            <a:avLst/>
          </a:prstGeom>
        </p:spPr>
        <p:txBody>
          <a:bodyPr anchor="t" rtlCol="false" tIns="0" lIns="0" bIns="0" rIns="0">
            <a:spAutoFit/>
          </a:bodyPr>
          <a:lstStyle/>
          <a:p>
            <a:pPr algn="just">
              <a:lnSpc>
                <a:spcPts val="3400"/>
              </a:lnSpc>
            </a:pPr>
            <a:r>
              <a:rPr lang="en-US" sz="2428" spc="-72">
                <a:solidFill>
                  <a:srgbClr val="000000"/>
                </a:solidFill>
                <a:latin typeface="Glacial Indifference"/>
                <a:ea typeface="Glacial Indifference"/>
                <a:cs typeface="Glacial Indifference"/>
                <a:sym typeface="Glacial Indifference"/>
              </a:rPr>
              <a:t>Anggota yang emailnya diberi tugas oleh ketua, akan menerima detail tugas yang diberikan</a:t>
            </a:r>
          </a:p>
          <a:p>
            <a:pPr algn="just">
              <a:lnSpc>
                <a:spcPts val="3400"/>
              </a:lnSpc>
            </a:pPr>
            <a:r>
              <a:rPr lang="en-US" sz="2428" spc="-72">
                <a:solidFill>
                  <a:srgbClr val="000000"/>
                </a:solidFill>
                <a:latin typeface="Glacial Indifference"/>
                <a:ea typeface="Glacial Indifference"/>
                <a:cs typeface="Glacial Indifference"/>
                <a:sym typeface="Glacial Indifference"/>
              </a:rPr>
              <a:t>Anggota dapat mengirimkan tautan, lampiran tugas, dan menandai sebagai selesai pada tugas yang diterima. apabila sudah terkirim, status tugas pada anggota dan ketua akan berubah menjadi selesai</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3815"/>
            <a:ext cx="18288000" cy="1600285"/>
            <a:chOff x="0" y="0"/>
            <a:chExt cx="4816593" cy="421474"/>
          </a:xfrm>
        </p:grpSpPr>
        <p:sp>
          <p:nvSpPr>
            <p:cNvPr name="Freeform 3" id="3"/>
            <p:cNvSpPr/>
            <p:nvPr/>
          </p:nvSpPr>
          <p:spPr>
            <a:xfrm flipH="false" flipV="false" rot="0">
              <a:off x="0" y="0"/>
              <a:ext cx="4816592" cy="421474"/>
            </a:xfrm>
            <a:custGeom>
              <a:avLst/>
              <a:gdLst/>
              <a:ahLst/>
              <a:cxnLst/>
              <a:rect r="r" b="b" t="t" l="l"/>
              <a:pathLst>
                <a:path h="421474" w="4816592">
                  <a:moveTo>
                    <a:pt x="0" y="0"/>
                  </a:moveTo>
                  <a:lnTo>
                    <a:pt x="4816592" y="0"/>
                  </a:lnTo>
                  <a:lnTo>
                    <a:pt x="4816592" y="421474"/>
                  </a:lnTo>
                  <a:lnTo>
                    <a:pt x="0" y="421474"/>
                  </a:lnTo>
                  <a:close/>
                </a:path>
              </a:pathLst>
            </a:custGeom>
            <a:gradFill rotWithShape="true">
              <a:gsLst>
                <a:gs pos="0">
                  <a:srgbClr val="007DFF">
                    <a:alpha val="100000"/>
                  </a:srgbClr>
                </a:gs>
                <a:gs pos="100000">
                  <a:srgbClr val="0CB9EF">
                    <a:alpha val="100000"/>
                  </a:srgbClr>
                </a:gs>
              </a:gsLst>
              <a:lin ang="2700000"/>
            </a:gradFill>
          </p:spPr>
        </p:sp>
        <p:sp>
          <p:nvSpPr>
            <p:cNvPr name="TextBox 4" id="4"/>
            <p:cNvSpPr txBox="true"/>
            <p:nvPr/>
          </p:nvSpPr>
          <p:spPr>
            <a:xfrm>
              <a:off x="0" y="-47625"/>
              <a:ext cx="4816593" cy="469099"/>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5400000">
            <a:off x="2399317" y="-979248"/>
            <a:ext cx="146365" cy="2887599"/>
            <a:chOff x="0" y="0"/>
            <a:chExt cx="260235" cy="5134124"/>
          </a:xfrm>
        </p:grpSpPr>
        <p:sp>
          <p:nvSpPr>
            <p:cNvPr name="Freeform 6" id="6"/>
            <p:cNvSpPr/>
            <p:nvPr/>
          </p:nvSpPr>
          <p:spPr>
            <a:xfrm flipH="false" flipV="false" rot="0">
              <a:off x="0" y="0"/>
              <a:ext cx="260235" cy="5134124"/>
            </a:xfrm>
            <a:custGeom>
              <a:avLst/>
              <a:gdLst/>
              <a:ahLst/>
              <a:cxnLst/>
              <a:rect r="r" b="b" t="t" l="l"/>
              <a:pathLst>
                <a:path h="5134124" w="260235">
                  <a:moveTo>
                    <a:pt x="0" y="0"/>
                  </a:moveTo>
                  <a:lnTo>
                    <a:pt x="260235" y="0"/>
                  </a:lnTo>
                  <a:lnTo>
                    <a:pt x="260235" y="5134124"/>
                  </a:lnTo>
                  <a:lnTo>
                    <a:pt x="0" y="5134124"/>
                  </a:lnTo>
                  <a:close/>
                </a:path>
              </a:pathLst>
            </a:custGeom>
            <a:solidFill>
              <a:srgbClr val="FFE500"/>
            </a:solidFill>
          </p:spPr>
        </p:sp>
        <p:sp>
          <p:nvSpPr>
            <p:cNvPr name="TextBox 7" id="7"/>
            <p:cNvSpPr txBox="true"/>
            <p:nvPr/>
          </p:nvSpPr>
          <p:spPr>
            <a:xfrm>
              <a:off x="0" y="-47625"/>
              <a:ext cx="260235" cy="5181749"/>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501184" y="2266393"/>
            <a:ext cx="10811358" cy="5196209"/>
          </a:xfrm>
          <a:custGeom>
            <a:avLst/>
            <a:gdLst/>
            <a:ahLst/>
            <a:cxnLst/>
            <a:rect r="r" b="b" t="t" l="l"/>
            <a:pathLst>
              <a:path h="5196209" w="10811358">
                <a:moveTo>
                  <a:pt x="0" y="0"/>
                </a:moveTo>
                <a:lnTo>
                  <a:pt x="10811358" y="0"/>
                </a:lnTo>
                <a:lnTo>
                  <a:pt x="10811358" y="5196209"/>
                </a:lnTo>
                <a:lnTo>
                  <a:pt x="0" y="5196209"/>
                </a:lnTo>
                <a:lnTo>
                  <a:pt x="0" y="0"/>
                </a:lnTo>
                <a:close/>
              </a:path>
            </a:pathLst>
          </a:custGeom>
          <a:blipFill>
            <a:blip r:embed="rId2"/>
            <a:stretch>
              <a:fillRect l="0" t="0" r="0" b="0"/>
            </a:stretch>
          </a:blipFill>
          <a:ln w="47625" cap="sq">
            <a:gradFill>
              <a:gsLst>
                <a:gs pos="0">
                  <a:srgbClr val="007DFF">
                    <a:alpha val="100000"/>
                  </a:srgbClr>
                </a:gs>
                <a:gs pos="100000">
                  <a:srgbClr val="0CB9EF">
                    <a:alpha val="100000"/>
                  </a:srgbClr>
                </a:gs>
              </a:gsLst>
              <a:lin ang="2700000"/>
            </a:gradFill>
            <a:prstDash val="solid"/>
            <a:miter/>
          </a:ln>
        </p:spPr>
      </p:sp>
      <p:sp>
        <p:nvSpPr>
          <p:cNvPr name="TextBox 9" id="9"/>
          <p:cNvSpPr txBox="true"/>
          <p:nvPr/>
        </p:nvSpPr>
        <p:spPr>
          <a:xfrm rot="0">
            <a:off x="1028700" y="585507"/>
            <a:ext cx="13601504" cy="631039"/>
          </a:xfrm>
          <a:prstGeom prst="rect">
            <a:avLst/>
          </a:prstGeom>
        </p:spPr>
        <p:txBody>
          <a:bodyPr anchor="t" rtlCol="false" tIns="0" lIns="0" bIns="0" rIns="0">
            <a:spAutoFit/>
          </a:bodyPr>
          <a:lstStyle/>
          <a:p>
            <a:pPr algn="l">
              <a:lnSpc>
                <a:spcPts val="5118"/>
              </a:lnSpc>
            </a:pPr>
            <a:r>
              <a:rPr lang="en-US" sz="3655" b="true">
                <a:solidFill>
                  <a:srgbClr val="FFFFFF"/>
                </a:solidFill>
                <a:latin typeface="Glacial Indifference Bold"/>
                <a:ea typeface="Glacial Indifference Bold"/>
                <a:cs typeface="Glacial Indifference Bold"/>
                <a:sym typeface="Glacial Indifference Bold"/>
              </a:rPr>
              <a:t>Fitur Role Anggota : Membuka Materi</a:t>
            </a:r>
          </a:p>
        </p:txBody>
      </p:sp>
      <p:sp>
        <p:nvSpPr>
          <p:cNvPr name="TextBox 10" id="10"/>
          <p:cNvSpPr txBox="true"/>
          <p:nvPr/>
        </p:nvSpPr>
        <p:spPr>
          <a:xfrm rot="0">
            <a:off x="11776041" y="2218768"/>
            <a:ext cx="6259149" cy="2530614"/>
          </a:xfrm>
          <a:prstGeom prst="rect">
            <a:avLst/>
          </a:prstGeom>
        </p:spPr>
        <p:txBody>
          <a:bodyPr anchor="t" rtlCol="false" tIns="0" lIns="0" bIns="0" rIns="0">
            <a:spAutoFit/>
          </a:bodyPr>
          <a:lstStyle/>
          <a:p>
            <a:pPr algn="just">
              <a:lnSpc>
                <a:spcPts val="3400"/>
              </a:lnSpc>
            </a:pPr>
            <a:r>
              <a:rPr lang="en-US" sz="2428" spc="-72">
                <a:solidFill>
                  <a:srgbClr val="000000"/>
                </a:solidFill>
                <a:latin typeface="Glacial Indifference"/>
                <a:ea typeface="Glacial Indifference"/>
                <a:cs typeface="Glacial Indifference"/>
                <a:sym typeface="Glacial Indifference"/>
              </a:rPr>
              <a:t>Anggota akan mendapatkan materi khusus pada divisi yang diberikan materi oleh pelatih dan tidak dapat melihat materi yang diberikan pada divisi lain.</a:t>
            </a:r>
          </a:p>
          <a:p>
            <a:pPr algn="just">
              <a:lnSpc>
                <a:spcPts val="3400"/>
              </a:lnSpc>
            </a:pPr>
            <a:r>
              <a:rPr lang="en-US" sz="2428" spc="-72">
                <a:solidFill>
                  <a:srgbClr val="000000"/>
                </a:solidFill>
                <a:latin typeface="Glacial Indifference"/>
                <a:ea typeface="Glacial Indifference"/>
                <a:cs typeface="Glacial Indifference"/>
                <a:sym typeface="Glacial Indifference"/>
              </a:rPr>
              <a:t>Anggota dapat mendownload materi yang dilampirkan pelatih</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3815"/>
            <a:ext cx="18288000" cy="1600285"/>
            <a:chOff x="0" y="0"/>
            <a:chExt cx="4816593" cy="421474"/>
          </a:xfrm>
        </p:grpSpPr>
        <p:sp>
          <p:nvSpPr>
            <p:cNvPr name="Freeform 3" id="3"/>
            <p:cNvSpPr/>
            <p:nvPr/>
          </p:nvSpPr>
          <p:spPr>
            <a:xfrm flipH="false" flipV="false" rot="0">
              <a:off x="0" y="0"/>
              <a:ext cx="4816592" cy="421474"/>
            </a:xfrm>
            <a:custGeom>
              <a:avLst/>
              <a:gdLst/>
              <a:ahLst/>
              <a:cxnLst/>
              <a:rect r="r" b="b" t="t" l="l"/>
              <a:pathLst>
                <a:path h="421474" w="4816592">
                  <a:moveTo>
                    <a:pt x="0" y="0"/>
                  </a:moveTo>
                  <a:lnTo>
                    <a:pt x="4816592" y="0"/>
                  </a:lnTo>
                  <a:lnTo>
                    <a:pt x="4816592" y="421474"/>
                  </a:lnTo>
                  <a:lnTo>
                    <a:pt x="0" y="421474"/>
                  </a:lnTo>
                  <a:close/>
                </a:path>
              </a:pathLst>
            </a:custGeom>
            <a:gradFill rotWithShape="true">
              <a:gsLst>
                <a:gs pos="0">
                  <a:srgbClr val="007DFF">
                    <a:alpha val="100000"/>
                  </a:srgbClr>
                </a:gs>
                <a:gs pos="100000">
                  <a:srgbClr val="0CB9EF">
                    <a:alpha val="100000"/>
                  </a:srgbClr>
                </a:gs>
              </a:gsLst>
              <a:lin ang="2700000"/>
            </a:gradFill>
          </p:spPr>
        </p:sp>
        <p:sp>
          <p:nvSpPr>
            <p:cNvPr name="TextBox 4" id="4"/>
            <p:cNvSpPr txBox="true"/>
            <p:nvPr/>
          </p:nvSpPr>
          <p:spPr>
            <a:xfrm>
              <a:off x="0" y="-47625"/>
              <a:ext cx="4816593" cy="469099"/>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5400000">
            <a:off x="2399317" y="-979248"/>
            <a:ext cx="146365" cy="2887599"/>
            <a:chOff x="0" y="0"/>
            <a:chExt cx="260235" cy="5134124"/>
          </a:xfrm>
        </p:grpSpPr>
        <p:sp>
          <p:nvSpPr>
            <p:cNvPr name="Freeform 6" id="6"/>
            <p:cNvSpPr/>
            <p:nvPr/>
          </p:nvSpPr>
          <p:spPr>
            <a:xfrm flipH="false" flipV="false" rot="0">
              <a:off x="0" y="0"/>
              <a:ext cx="260235" cy="5134124"/>
            </a:xfrm>
            <a:custGeom>
              <a:avLst/>
              <a:gdLst/>
              <a:ahLst/>
              <a:cxnLst/>
              <a:rect r="r" b="b" t="t" l="l"/>
              <a:pathLst>
                <a:path h="5134124" w="260235">
                  <a:moveTo>
                    <a:pt x="0" y="0"/>
                  </a:moveTo>
                  <a:lnTo>
                    <a:pt x="260235" y="0"/>
                  </a:lnTo>
                  <a:lnTo>
                    <a:pt x="260235" y="5134124"/>
                  </a:lnTo>
                  <a:lnTo>
                    <a:pt x="0" y="5134124"/>
                  </a:lnTo>
                  <a:close/>
                </a:path>
              </a:pathLst>
            </a:custGeom>
            <a:solidFill>
              <a:srgbClr val="FFE500"/>
            </a:solidFill>
          </p:spPr>
        </p:sp>
        <p:sp>
          <p:nvSpPr>
            <p:cNvPr name="TextBox 7" id="7"/>
            <p:cNvSpPr txBox="true"/>
            <p:nvPr/>
          </p:nvSpPr>
          <p:spPr>
            <a:xfrm>
              <a:off x="0" y="-47625"/>
              <a:ext cx="260235" cy="5181749"/>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1024620" y="2866207"/>
            <a:ext cx="4819577" cy="5601476"/>
          </a:xfrm>
          <a:custGeom>
            <a:avLst/>
            <a:gdLst/>
            <a:ahLst/>
            <a:cxnLst/>
            <a:rect r="r" b="b" t="t" l="l"/>
            <a:pathLst>
              <a:path h="5601476" w="4819577">
                <a:moveTo>
                  <a:pt x="0" y="0"/>
                </a:moveTo>
                <a:lnTo>
                  <a:pt x="4819577" y="0"/>
                </a:lnTo>
                <a:lnTo>
                  <a:pt x="4819577" y="5601476"/>
                </a:lnTo>
                <a:lnTo>
                  <a:pt x="0" y="5601476"/>
                </a:lnTo>
                <a:lnTo>
                  <a:pt x="0" y="0"/>
                </a:lnTo>
                <a:close/>
              </a:path>
            </a:pathLst>
          </a:custGeom>
          <a:blipFill>
            <a:blip r:embed="rId2"/>
            <a:stretch>
              <a:fillRect l="0" t="0" r="0" b="0"/>
            </a:stretch>
          </a:blipFill>
        </p:spPr>
      </p:sp>
      <p:sp>
        <p:nvSpPr>
          <p:cNvPr name="TextBox 9" id="9"/>
          <p:cNvSpPr txBox="true"/>
          <p:nvPr/>
        </p:nvSpPr>
        <p:spPr>
          <a:xfrm rot="0">
            <a:off x="1028700" y="585507"/>
            <a:ext cx="13601504" cy="631039"/>
          </a:xfrm>
          <a:prstGeom prst="rect">
            <a:avLst/>
          </a:prstGeom>
        </p:spPr>
        <p:txBody>
          <a:bodyPr anchor="t" rtlCol="false" tIns="0" lIns="0" bIns="0" rIns="0">
            <a:spAutoFit/>
          </a:bodyPr>
          <a:lstStyle/>
          <a:p>
            <a:pPr algn="l">
              <a:lnSpc>
                <a:spcPts val="5118"/>
              </a:lnSpc>
            </a:pPr>
            <a:r>
              <a:rPr lang="en-US" sz="3655" b="true">
                <a:solidFill>
                  <a:srgbClr val="FFFFFF"/>
                </a:solidFill>
                <a:latin typeface="Glacial Indifference Bold"/>
                <a:ea typeface="Glacial Indifference Bold"/>
                <a:cs typeface="Glacial Indifference Bold"/>
                <a:sym typeface="Glacial Indifference Bold"/>
              </a:rPr>
              <a:t>Arsitektur</a:t>
            </a:r>
          </a:p>
        </p:txBody>
      </p:sp>
      <p:sp>
        <p:nvSpPr>
          <p:cNvPr name="TextBox 10" id="10"/>
          <p:cNvSpPr txBox="true"/>
          <p:nvPr/>
        </p:nvSpPr>
        <p:spPr>
          <a:xfrm rot="0">
            <a:off x="2134273" y="8843010"/>
            <a:ext cx="2600271" cy="415290"/>
          </a:xfrm>
          <a:prstGeom prst="rect">
            <a:avLst/>
          </a:prstGeom>
        </p:spPr>
        <p:txBody>
          <a:bodyPr anchor="t" rtlCol="false" tIns="0" lIns="0" bIns="0" rIns="0">
            <a:spAutoFit/>
          </a:bodyPr>
          <a:lstStyle/>
          <a:p>
            <a:pPr algn="ctr">
              <a:lnSpc>
                <a:spcPts val="3359"/>
              </a:lnSpc>
            </a:pPr>
            <a:r>
              <a:rPr lang="en-US" sz="2400" spc="-72">
                <a:solidFill>
                  <a:srgbClr val="000000"/>
                </a:solidFill>
                <a:latin typeface="Glacial Indifference"/>
                <a:ea typeface="Glacial Indifference"/>
                <a:cs typeface="Glacial Indifference"/>
                <a:sym typeface="Glacial Indifference"/>
              </a:rPr>
              <a:t>Arsitektur MVC</a:t>
            </a:r>
          </a:p>
        </p:txBody>
      </p:sp>
      <p:sp>
        <p:nvSpPr>
          <p:cNvPr name="TextBox 11" id="11"/>
          <p:cNvSpPr txBox="true"/>
          <p:nvPr/>
        </p:nvSpPr>
        <p:spPr>
          <a:xfrm rot="0">
            <a:off x="6794668" y="2212193"/>
            <a:ext cx="10464632" cy="6696075"/>
          </a:xfrm>
          <a:prstGeom prst="rect">
            <a:avLst/>
          </a:prstGeom>
        </p:spPr>
        <p:txBody>
          <a:bodyPr anchor="t" rtlCol="false" tIns="0" lIns="0" bIns="0" rIns="0">
            <a:spAutoFit/>
          </a:bodyPr>
          <a:lstStyle/>
          <a:p>
            <a:pPr algn="just">
              <a:lnSpc>
                <a:spcPts val="3599"/>
              </a:lnSpc>
            </a:pPr>
            <a:r>
              <a:rPr lang="en-US" sz="2499">
                <a:solidFill>
                  <a:srgbClr val="000000"/>
                </a:solidFill>
                <a:latin typeface="Glacial Indifference"/>
                <a:ea typeface="Glacial Indifference"/>
                <a:cs typeface="Glacial Indifference"/>
                <a:sym typeface="Glacial Indifference"/>
              </a:rPr>
              <a:t>Aplikasi Colab dibangun menggunakan arsitektur </a:t>
            </a:r>
            <a:r>
              <a:rPr lang="en-US" sz="2499" b="true">
                <a:solidFill>
                  <a:srgbClr val="000000"/>
                </a:solidFill>
                <a:latin typeface="Glacial Indifference Bold"/>
                <a:ea typeface="Glacial Indifference Bold"/>
                <a:cs typeface="Glacial Indifference Bold"/>
                <a:sym typeface="Glacial Indifference Bold"/>
              </a:rPr>
              <a:t>Model-View-Controller (MVC</a:t>
            </a:r>
            <a:r>
              <a:rPr lang="en-US" sz="2499">
                <a:solidFill>
                  <a:srgbClr val="000000"/>
                </a:solidFill>
                <a:latin typeface="Glacial Indifference"/>
                <a:ea typeface="Glacial Indifference"/>
                <a:cs typeface="Glacial Indifference"/>
                <a:sym typeface="Glacial Indifference"/>
              </a:rPr>
              <a:t>) melalui framework Laravel. Pada lapisan Model, setiap entitas data seperti pengguna, tugas, materi, dan tim direpresentasikan sebagai kelas Eloquent yang mengelola interaksi dengan database MySQL. Lapisan Controller berperan sebagai penghubung antara Model dan View, memproses setiap permintaan yang masuk, menjalankan logika bisnis, serta mengembalikan respons yang sesuai. Sementara itu, lapisan View menggunakan Blade templating engine untuk merender antarmuka web yang dikirimkan langsung ke browser pengguna.</a:t>
            </a:r>
          </a:p>
          <a:p>
            <a:pPr algn="just">
              <a:lnSpc>
                <a:spcPts val="3599"/>
              </a:lnSpc>
            </a:pPr>
          </a:p>
          <a:p>
            <a:pPr algn="just">
              <a:lnSpc>
                <a:spcPts val="3599"/>
              </a:lnSpc>
            </a:pPr>
            <a:r>
              <a:rPr lang="en-US" sz="2499">
                <a:solidFill>
                  <a:srgbClr val="000000"/>
                </a:solidFill>
                <a:latin typeface="Glacial Indifference"/>
                <a:ea typeface="Glacial Indifference"/>
                <a:cs typeface="Glacial Indifference"/>
                <a:sym typeface="Glacial Indifference"/>
              </a:rPr>
              <a:t>Untuk penyimpanan file seperti materi, lampiran tugas, dan foto profil, aplikasi menggunakan Alibaba Cloud OSS sebagai external storage yang persisten dan dapat diakses dari mana saja. Seluruh aplikasi di-deploy di Railway dengan database MySQL yang dikelola oleh platform yang sama, menjadikan infrastruktur aplikasi sepenuhnya berbasis cloud.</a:t>
            </a:r>
          </a:p>
        </p:txBody>
      </p:sp>
    </p:spTree>
  </p:cSld>
  <p:clrMapOvr>
    <a:masterClrMapping/>
  </p:clrMapOvr>
</p:sld>
</file>

<file path=ppt/slides/slide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847497" y="2707563"/>
            <a:ext cx="7424062" cy="2510790"/>
          </a:xfrm>
          <a:prstGeom prst="rect">
            <a:avLst/>
          </a:prstGeom>
        </p:spPr>
        <p:txBody>
          <a:bodyPr anchor="t" rtlCol="false" tIns="0" lIns="0" bIns="0" rIns="0">
            <a:spAutoFit/>
          </a:bodyPr>
          <a:lstStyle/>
          <a:p>
            <a:pPr algn="just">
              <a:lnSpc>
                <a:spcPts val="3359"/>
              </a:lnSpc>
            </a:pPr>
            <a:r>
              <a:rPr lang="en-US" sz="2400" spc="-72">
                <a:solidFill>
                  <a:srgbClr val="000000"/>
                </a:solidFill>
                <a:latin typeface="Glacial Indifference"/>
                <a:ea typeface="Glacial Indifference"/>
                <a:cs typeface="Glacial Indifference"/>
                <a:sym typeface="Glacial Indifference"/>
              </a:rPr>
              <a:t>Selama pengerjaan Team Based Project ini, distribusi pembagian pekerjaan berjalan dengan efektif. dengan Lutfiyah sebagai Project Manager, Ihza mengerjakan desain UI/UX, Rafli dan Andre mengerjakan Frontend, dan Shafa yang mengerjakan Backend. kami telah berkoordinasi dengan baik hingga TBP ini selesai dikerjakan</a:t>
            </a:r>
          </a:p>
        </p:txBody>
      </p:sp>
      <p:sp>
        <p:nvSpPr>
          <p:cNvPr name="TextBox 3" id="3"/>
          <p:cNvSpPr txBox="true"/>
          <p:nvPr/>
        </p:nvSpPr>
        <p:spPr>
          <a:xfrm rot="0">
            <a:off x="847497" y="2210140"/>
            <a:ext cx="9044679" cy="415290"/>
          </a:xfrm>
          <a:prstGeom prst="rect">
            <a:avLst/>
          </a:prstGeom>
        </p:spPr>
        <p:txBody>
          <a:bodyPr anchor="t" rtlCol="false" tIns="0" lIns="0" bIns="0" rIns="0">
            <a:spAutoFit/>
          </a:bodyPr>
          <a:lstStyle/>
          <a:p>
            <a:pPr algn="just">
              <a:lnSpc>
                <a:spcPts val="3359"/>
              </a:lnSpc>
            </a:pPr>
            <a:r>
              <a:rPr lang="en-US" b="true" sz="2400" spc="-72">
                <a:solidFill>
                  <a:srgbClr val="0058B4"/>
                </a:solidFill>
                <a:latin typeface="Glacial Indifference Bold"/>
                <a:ea typeface="Glacial Indifference Bold"/>
                <a:cs typeface="Glacial Indifference Bold"/>
                <a:sym typeface="Glacial Indifference Bold"/>
              </a:rPr>
              <a:t>What went well</a:t>
            </a:r>
          </a:p>
        </p:txBody>
      </p:sp>
      <p:sp>
        <p:nvSpPr>
          <p:cNvPr name="TextBox 4" id="4"/>
          <p:cNvSpPr txBox="true"/>
          <p:nvPr/>
        </p:nvSpPr>
        <p:spPr>
          <a:xfrm rot="0">
            <a:off x="9064066" y="2707563"/>
            <a:ext cx="8297880" cy="2091690"/>
          </a:xfrm>
          <a:prstGeom prst="rect">
            <a:avLst/>
          </a:prstGeom>
        </p:spPr>
        <p:txBody>
          <a:bodyPr anchor="t" rtlCol="false" tIns="0" lIns="0" bIns="0" rIns="0">
            <a:spAutoFit/>
          </a:bodyPr>
          <a:lstStyle/>
          <a:p>
            <a:pPr algn="just">
              <a:lnSpc>
                <a:spcPts val="3359"/>
              </a:lnSpc>
            </a:pPr>
            <a:r>
              <a:rPr lang="en-US" sz="2400" spc="-72">
                <a:solidFill>
                  <a:srgbClr val="000000"/>
                </a:solidFill>
                <a:latin typeface="Glacial Indifference"/>
                <a:ea typeface="Glacial Indifference"/>
                <a:cs typeface="Glacial Indifference"/>
                <a:sym typeface="Glacial Indifference"/>
              </a:rPr>
              <a:t>Selama pengerjaan, kami sempat memiliki kendala dimana layanan hosting kami yaitu railway, tidak bisa menyimpan file PDF yang dimana merupakan fitur utama kami dalam menyimpan materi. kami memutuskan untuk menggunakan layanan database external untuk file pdf dan gambar profil menggunakan Alibaba Cloud OSS</a:t>
            </a:r>
          </a:p>
        </p:txBody>
      </p:sp>
      <p:sp>
        <p:nvSpPr>
          <p:cNvPr name="TextBox 5" id="5"/>
          <p:cNvSpPr txBox="true"/>
          <p:nvPr/>
        </p:nvSpPr>
        <p:spPr>
          <a:xfrm rot="0">
            <a:off x="9144000" y="2210140"/>
            <a:ext cx="9044679" cy="415290"/>
          </a:xfrm>
          <a:prstGeom prst="rect">
            <a:avLst/>
          </a:prstGeom>
        </p:spPr>
        <p:txBody>
          <a:bodyPr anchor="t" rtlCol="false" tIns="0" lIns="0" bIns="0" rIns="0">
            <a:spAutoFit/>
          </a:bodyPr>
          <a:lstStyle/>
          <a:p>
            <a:pPr algn="just">
              <a:lnSpc>
                <a:spcPts val="3359"/>
              </a:lnSpc>
            </a:pPr>
            <a:r>
              <a:rPr lang="en-US" b="true" sz="2400" spc="-72">
                <a:solidFill>
                  <a:srgbClr val="0058B4"/>
                </a:solidFill>
                <a:latin typeface="Glacial Indifference Bold"/>
                <a:ea typeface="Glacial Indifference Bold"/>
                <a:cs typeface="Glacial Indifference Bold"/>
                <a:sym typeface="Glacial Indifference Bold"/>
              </a:rPr>
              <a:t>What Didnt Go Well</a:t>
            </a:r>
          </a:p>
        </p:txBody>
      </p:sp>
      <p:sp>
        <p:nvSpPr>
          <p:cNvPr name="TextBox 6" id="6"/>
          <p:cNvSpPr txBox="true"/>
          <p:nvPr/>
        </p:nvSpPr>
        <p:spPr>
          <a:xfrm rot="0">
            <a:off x="847497" y="5913803"/>
            <a:ext cx="7424062" cy="2929890"/>
          </a:xfrm>
          <a:prstGeom prst="rect">
            <a:avLst/>
          </a:prstGeom>
        </p:spPr>
        <p:txBody>
          <a:bodyPr anchor="t" rtlCol="false" tIns="0" lIns="0" bIns="0" rIns="0">
            <a:spAutoFit/>
          </a:bodyPr>
          <a:lstStyle/>
          <a:p>
            <a:pPr algn="just">
              <a:lnSpc>
                <a:spcPts val="3359"/>
              </a:lnSpc>
            </a:pPr>
            <a:r>
              <a:rPr lang="en-US" sz="2400" spc="-72">
                <a:solidFill>
                  <a:srgbClr val="000000"/>
                </a:solidFill>
                <a:latin typeface="Glacial Indifference"/>
                <a:ea typeface="Glacial Indifference"/>
                <a:cs typeface="Glacial Indifference"/>
                <a:sym typeface="Glacial Indifference"/>
              </a:rPr>
              <a:t>S</a:t>
            </a:r>
            <a:r>
              <a:rPr lang="en-US" sz="2400" spc="-72">
                <a:solidFill>
                  <a:srgbClr val="000000"/>
                </a:solidFill>
                <a:latin typeface="Glacial Indifference"/>
                <a:ea typeface="Glacial Indifference"/>
                <a:cs typeface="Glacial Indifference"/>
                <a:sym typeface="Glacial Indifference"/>
              </a:rPr>
              <a:t>elama pengerjaan, ritme pengerjaan kami mengikuti praktikum RPL, sehingga pekerjaan yang seharusnya bisa dilakukan di awal tertunda karena kami menunggu untuk mengikuti modul praktikum berikutnya. akan lebih baik apabila kita mengerjakan apa yang bisa kita kerjakan tanpa menunggu modul sehingga pekerjaan yang rumit di akhir akan memiliki lebih banyak waktu untuk evaluasi.</a:t>
            </a:r>
          </a:p>
        </p:txBody>
      </p:sp>
      <p:sp>
        <p:nvSpPr>
          <p:cNvPr name="TextBox 7" id="7"/>
          <p:cNvSpPr txBox="true"/>
          <p:nvPr/>
        </p:nvSpPr>
        <p:spPr>
          <a:xfrm rot="0">
            <a:off x="847497" y="5431838"/>
            <a:ext cx="9044679" cy="415290"/>
          </a:xfrm>
          <a:prstGeom prst="rect">
            <a:avLst/>
          </a:prstGeom>
        </p:spPr>
        <p:txBody>
          <a:bodyPr anchor="t" rtlCol="false" tIns="0" lIns="0" bIns="0" rIns="0">
            <a:spAutoFit/>
          </a:bodyPr>
          <a:lstStyle/>
          <a:p>
            <a:pPr algn="just">
              <a:lnSpc>
                <a:spcPts val="3359"/>
              </a:lnSpc>
            </a:pPr>
            <a:r>
              <a:rPr lang="en-US" b="true" sz="2400" spc="-72">
                <a:solidFill>
                  <a:srgbClr val="0058B4"/>
                </a:solidFill>
                <a:latin typeface="Glacial Indifference Bold"/>
                <a:ea typeface="Glacial Indifference Bold"/>
                <a:cs typeface="Glacial Indifference Bold"/>
                <a:sym typeface="Glacial Indifference Bold"/>
              </a:rPr>
              <a:t>What Can We Improve</a:t>
            </a:r>
          </a:p>
        </p:txBody>
      </p:sp>
      <p:grpSp>
        <p:nvGrpSpPr>
          <p:cNvPr name="Group 8" id="8"/>
          <p:cNvGrpSpPr/>
          <p:nvPr/>
        </p:nvGrpSpPr>
        <p:grpSpPr>
          <a:xfrm rot="0">
            <a:off x="0" y="3815"/>
            <a:ext cx="18288000" cy="1600285"/>
            <a:chOff x="0" y="0"/>
            <a:chExt cx="4816593" cy="421474"/>
          </a:xfrm>
        </p:grpSpPr>
        <p:sp>
          <p:nvSpPr>
            <p:cNvPr name="Freeform 9" id="9"/>
            <p:cNvSpPr/>
            <p:nvPr/>
          </p:nvSpPr>
          <p:spPr>
            <a:xfrm flipH="false" flipV="false" rot="0">
              <a:off x="0" y="0"/>
              <a:ext cx="4816592" cy="421474"/>
            </a:xfrm>
            <a:custGeom>
              <a:avLst/>
              <a:gdLst/>
              <a:ahLst/>
              <a:cxnLst/>
              <a:rect r="r" b="b" t="t" l="l"/>
              <a:pathLst>
                <a:path h="421474" w="4816592">
                  <a:moveTo>
                    <a:pt x="0" y="0"/>
                  </a:moveTo>
                  <a:lnTo>
                    <a:pt x="4816592" y="0"/>
                  </a:lnTo>
                  <a:lnTo>
                    <a:pt x="4816592" y="421474"/>
                  </a:lnTo>
                  <a:lnTo>
                    <a:pt x="0" y="421474"/>
                  </a:lnTo>
                  <a:close/>
                </a:path>
              </a:pathLst>
            </a:custGeom>
            <a:gradFill rotWithShape="true">
              <a:gsLst>
                <a:gs pos="0">
                  <a:srgbClr val="007DFF">
                    <a:alpha val="100000"/>
                  </a:srgbClr>
                </a:gs>
                <a:gs pos="100000">
                  <a:srgbClr val="0CB9EF">
                    <a:alpha val="100000"/>
                  </a:srgbClr>
                </a:gs>
              </a:gsLst>
              <a:lin ang="2700000"/>
            </a:gradFill>
          </p:spPr>
        </p:sp>
        <p:sp>
          <p:nvSpPr>
            <p:cNvPr name="TextBox 10" id="10"/>
            <p:cNvSpPr txBox="true"/>
            <p:nvPr/>
          </p:nvSpPr>
          <p:spPr>
            <a:xfrm>
              <a:off x="0" y="-47625"/>
              <a:ext cx="4816593" cy="469099"/>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5400000">
            <a:off x="2399317" y="-979248"/>
            <a:ext cx="146365" cy="2887599"/>
            <a:chOff x="0" y="0"/>
            <a:chExt cx="260235" cy="5134124"/>
          </a:xfrm>
        </p:grpSpPr>
        <p:sp>
          <p:nvSpPr>
            <p:cNvPr name="Freeform 12" id="12"/>
            <p:cNvSpPr/>
            <p:nvPr/>
          </p:nvSpPr>
          <p:spPr>
            <a:xfrm flipH="false" flipV="false" rot="0">
              <a:off x="0" y="0"/>
              <a:ext cx="260235" cy="5134124"/>
            </a:xfrm>
            <a:custGeom>
              <a:avLst/>
              <a:gdLst/>
              <a:ahLst/>
              <a:cxnLst/>
              <a:rect r="r" b="b" t="t" l="l"/>
              <a:pathLst>
                <a:path h="5134124" w="260235">
                  <a:moveTo>
                    <a:pt x="0" y="0"/>
                  </a:moveTo>
                  <a:lnTo>
                    <a:pt x="260235" y="0"/>
                  </a:lnTo>
                  <a:lnTo>
                    <a:pt x="260235" y="5134124"/>
                  </a:lnTo>
                  <a:lnTo>
                    <a:pt x="0" y="5134124"/>
                  </a:lnTo>
                  <a:close/>
                </a:path>
              </a:pathLst>
            </a:custGeom>
            <a:solidFill>
              <a:srgbClr val="FFE500"/>
            </a:solidFill>
          </p:spPr>
        </p:sp>
        <p:sp>
          <p:nvSpPr>
            <p:cNvPr name="TextBox 13" id="13"/>
            <p:cNvSpPr txBox="true"/>
            <p:nvPr/>
          </p:nvSpPr>
          <p:spPr>
            <a:xfrm>
              <a:off x="0" y="-47625"/>
              <a:ext cx="260235" cy="5181749"/>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1028700" y="585507"/>
            <a:ext cx="13601504" cy="631039"/>
          </a:xfrm>
          <a:prstGeom prst="rect">
            <a:avLst/>
          </a:prstGeom>
        </p:spPr>
        <p:txBody>
          <a:bodyPr anchor="t" rtlCol="false" tIns="0" lIns="0" bIns="0" rIns="0">
            <a:spAutoFit/>
          </a:bodyPr>
          <a:lstStyle/>
          <a:p>
            <a:pPr algn="l">
              <a:lnSpc>
                <a:spcPts val="5118"/>
              </a:lnSpc>
            </a:pPr>
            <a:r>
              <a:rPr lang="en-US" sz="3655" b="true">
                <a:solidFill>
                  <a:srgbClr val="FFFFFF"/>
                </a:solidFill>
                <a:latin typeface="Glacial Indifference Bold"/>
                <a:ea typeface="Glacial Indifference Bold"/>
                <a:cs typeface="Glacial Indifference Bold"/>
                <a:sym typeface="Glacial Indifference Bold"/>
              </a:rPr>
              <a:t>Refleksi Kinerja Tim</a:t>
            </a:r>
          </a:p>
        </p:txBody>
      </p:sp>
      <p:sp>
        <p:nvSpPr>
          <p:cNvPr name="TextBox 15" id="15"/>
          <p:cNvSpPr txBox="true"/>
          <p:nvPr/>
        </p:nvSpPr>
        <p:spPr>
          <a:xfrm rot="0">
            <a:off x="9064066" y="5753783"/>
            <a:ext cx="8750057" cy="4187190"/>
          </a:xfrm>
          <a:prstGeom prst="rect">
            <a:avLst/>
          </a:prstGeom>
        </p:spPr>
        <p:txBody>
          <a:bodyPr anchor="t" rtlCol="false" tIns="0" lIns="0" bIns="0" rIns="0">
            <a:spAutoFit/>
          </a:bodyPr>
          <a:lstStyle/>
          <a:p>
            <a:pPr algn="just">
              <a:lnSpc>
                <a:spcPts val="3359"/>
              </a:lnSpc>
            </a:pPr>
            <a:r>
              <a:rPr lang="en-US" sz="2400" spc="-72">
                <a:solidFill>
                  <a:srgbClr val="000000"/>
                </a:solidFill>
                <a:latin typeface="Glacial Indifference"/>
                <a:ea typeface="Glacial Indifference"/>
                <a:cs typeface="Glacial Indifference"/>
                <a:sym typeface="Glacial Indifference"/>
              </a:rPr>
              <a:t>Shout out untuk Lutfiyah yang telah memandu dan merapikan serta mengumpulkan perkerjaan kita</a:t>
            </a:r>
          </a:p>
          <a:p>
            <a:pPr algn="just">
              <a:lnSpc>
                <a:spcPts val="3359"/>
              </a:lnSpc>
            </a:pPr>
            <a:r>
              <a:rPr lang="en-US" sz="2400" spc="-72">
                <a:solidFill>
                  <a:srgbClr val="000000"/>
                </a:solidFill>
                <a:latin typeface="Glacial Indifference"/>
                <a:ea typeface="Glacial Indifference"/>
                <a:cs typeface="Glacial Indifference"/>
                <a:sym typeface="Glacial Indifference"/>
              </a:rPr>
              <a:t>Shout out untuk Ihza yang telah mendesain interface, menghostingkan, dan memperbaiki beberapa error saat proses hosting</a:t>
            </a:r>
          </a:p>
          <a:p>
            <a:pPr algn="just">
              <a:lnSpc>
                <a:spcPts val="3359"/>
              </a:lnSpc>
            </a:pPr>
            <a:r>
              <a:rPr lang="en-US" sz="2400" spc="-72">
                <a:solidFill>
                  <a:srgbClr val="000000"/>
                </a:solidFill>
                <a:latin typeface="Glacial Indifference"/>
                <a:ea typeface="Glacial Indifference"/>
                <a:cs typeface="Glacial Indifference"/>
                <a:sym typeface="Glacial Indifference"/>
              </a:rPr>
              <a:t>Shoutout untuk Rafli yang telah mengerjakan frontend untuk bagian login, role ketua tim, dan role admin.</a:t>
            </a:r>
          </a:p>
          <a:p>
            <a:pPr algn="just">
              <a:lnSpc>
                <a:spcPts val="3359"/>
              </a:lnSpc>
            </a:pPr>
            <a:r>
              <a:rPr lang="en-US" sz="2400" spc="-72">
                <a:solidFill>
                  <a:srgbClr val="000000"/>
                </a:solidFill>
                <a:latin typeface="Glacial Indifference"/>
                <a:ea typeface="Glacial Indifference"/>
                <a:cs typeface="Glacial Indifference"/>
                <a:sym typeface="Glacial Indifference"/>
              </a:rPr>
              <a:t>Shoutout untuk Andre yang telah mengerjakan frontend untuk bagian Anggota tim, pelatih, superadmin</a:t>
            </a:r>
          </a:p>
          <a:p>
            <a:pPr algn="just">
              <a:lnSpc>
                <a:spcPts val="3359"/>
              </a:lnSpc>
            </a:pPr>
            <a:r>
              <a:rPr lang="en-US" sz="2400" spc="-72">
                <a:solidFill>
                  <a:srgbClr val="000000"/>
                </a:solidFill>
                <a:latin typeface="Glacial Indifference"/>
                <a:ea typeface="Glacial Indifference"/>
                <a:cs typeface="Glacial Indifference"/>
                <a:sym typeface="Glacial Indifference"/>
              </a:rPr>
              <a:t>Shoutout untuk Shafa yang telah membuat dan mengurus semua bagian Database yang dipakai pada project ini</a:t>
            </a:r>
          </a:p>
        </p:txBody>
      </p:sp>
      <p:sp>
        <p:nvSpPr>
          <p:cNvPr name="TextBox 16" id="16"/>
          <p:cNvSpPr txBox="true"/>
          <p:nvPr/>
        </p:nvSpPr>
        <p:spPr>
          <a:xfrm rot="0">
            <a:off x="9064066" y="5252768"/>
            <a:ext cx="9044679" cy="415290"/>
          </a:xfrm>
          <a:prstGeom prst="rect">
            <a:avLst/>
          </a:prstGeom>
        </p:spPr>
        <p:txBody>
          <a:bodyPr anchor="t" rtlCol="false" tIns="0" lIns="0" bIns="0" rIns="0">
            <a:spAutoFit/>
          </a:bodyPr>
          <a:lstStyle/>
          <a:p>
            <a:pPr algn="just">
              <a:lnSpc>
                <a:spcPts val="3359"/>
              </a:lnSpc>
            </a:pPr>
            <a:r>
              <a:rPr lang="en-US" b="true" sz="2400" spc="-72">
                <a:solidFill>
                  <a:srgbClr val="0058B4"/>
                </a:solidFill>
                <a:latin typeface="Glacial Indifference Bold"/>
                <a:ea typeface="Glacial Indifference Bold"/>
                <a:cs typeface="Glacial Indifference Bold"/>
                <a:sym typeface="Glacial Indifference Bold"/>
              </a:rPr>
              <a:t>Shout Outs</a:t>
            </a:r>
          </a:p>
        </p:txBody>
      </p:sp>
    </p:spTree>
  </p:cSld>
  <p:clrMapOvr>
    <a:masterClrMapping/>
  </p:clrMapOvr>
</p:sld>
</file>

<file path=ppt/slides/slide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847497" y="2799128"/>
            <a:ext cx="7424062" cy="3348990"/>
          </a:xfrm>
          <a:prstGeom prst="rect">
            <a:avLst/>
          </a:prstGeom>
        </p:spPr>
        <p:txBody>
          <a:bodyPr anchor="t" rtlCol="false" tIns="0" lIns="0" bIns="0" rIns="0">
            <a:spAutoFit/>
          </a:bodyPr>
          <a:lstStyle/>
          <a:p>
            <a:pPr algn="just">
              <a:lnSpc>
                <a:spcPts val="3359"/>
              </a:lnSpc>
            </a:pPr>
            <a:r>
              <a:rPr lang="en-US" sz="2400" spc="-72">
                <a:solidFill>
                  <a:srgbClr val="000000"/>
                </a:solidFill>
                <a:latin typeface="Glacial Indifference"/>
                <a:ea typeface="Glacial Indifference"/>
                <a:cs typeface="Glacial Indifference"/>
                <a:sym typeface="Glacial Indifference"/>
              </a:rPr>
              <a:t>S</a:t>
            </a:r>
            <a:r>
              <a:rPr lang="en-US" sz="2400" spc="-72">
                <a:solidFill>
                  <a:srgbClr val="000000"/>
                </a:solidFill>
                <a:latin typeface="Glacial Indifference"/>
                <a:ea typeface="Glacial Indifference"/>
                <a:cs typeface="Glacial Indifference"/>
                <a:sym typeface="Glacial Indifference"/>
              </a:rPr>
              <a:t>elain untuk memenuhi tugas mata kuliah sistem ini juga dibuat untuk dapat menyelesaikan permasalahan nyata yang ada dalam tim seperti yang telah dijelaskan pada bagian problem statement di atas. Dalam kasus ini, kami menggunakan studi kasus Ormawa Robotika UNS. Sehingga sistem ini benar-benar dapat dimanfaatkan secara nyata oleh khalayak ramai di masa mendatang.</a:t>
            </a:r>
          </a:p>
          <a:p>
            <a:pPr algn="just">
              <a:lnSpc>
                <a:spcPts val="3359"/>
              </a:lnSpc>
            </a:pPr>
          </a:p>
        </p:txBody>
      </p:sp>
      <p:sp>
        <p:nvSpPr>
          <p:cNvPr name="TextBox 3" id="3"/>
          <p:cNvSpPr txBox="true"/>
          <p:nvPr/>
        </p:nvSpPr>
        <p:spPr>
          <a:xfrm rot="0">
            <a:off x="847497" y="2210140"/>
            <a:ext cx="9044679" cy="415290"/>
          </a:xfrm>
          <a:prstGeom prst="rect">
            <a:avLst/>
          </a:prstGeom>
        </p:spPr>
        <p:txBody>
          <a:bodyPr anchor="t" rtlCol="false" tIns="0" lIns="0" bIns="0" rIns="0">
            <a:spAutoFit/>
          </a:bodyPr>
          <a:lstStyle/>
          <a:p>
            <a:pPr algn="just">
              <a:lnSpc>
                <a:spcPts val="3359"/>
              </a:lnSpc>
            </a:pPr>
            <a:r>
              <a:rPr lang="en-US" b="true" sz="2400" spc="-72">
                <a:solidFill>
                  <a:srgbClr val="0058B4"/>
                </a:solidFill>
                <a:latin typeface="Glacial Indifference Bold"/>
                <a:ea typeface="Glacial Indifference Bold"/>
                <a:cs typeface="Glacial Indifference Bold"/>
                <a:sym typeface="Glacial Indifference Bold"/>
              </a:rPr>
              <a:t>The Reason It All Exist</a:t>
            </a:r>
          </a:p>
        </p:txBody>
      </p:sp>
      <p:sp>
        <p:nvSpPr>
          <p:cNvPr name="TextBox 4" id="4"/>
          <p:cNvSpPr txBox="true"/>
          <p:nvPr/>
        </p:nvSpPr>
        <p:spPr>
          <a:xfrm rot="0">
            <a:off x="9064066" y="2817291"/>
            <a:ext cx="8297880" cy="2510790"/>
          </a:xfrm>
          <a:prstGeom prst="rect">
            <a:avLst/>
          </a:prstGeom>
        </p:spPr>
        <p:txBody>
          <a:bodyPr anchor="t" rtlCol="false" tIns="0" lIns="0" bIns="0" rIns="0">
            <a:spAutoFit/>
          </a:bodyPr>
          <a:lstStyle/>
          <a:p>
            <a:pPr algn="just">
              <a:lnSpc>
                <a:spcPts val="3359"/>
              </a:lnSpc>
            </a:pPr>
            <a:r>
              <a:rPr lang="en-US" sz="2400" spc="-72">
                <a:solidFill>
                  <a:srgbClr val="000000"/>
                </a:solidFill>
                <a:latin typeface="Glacial Indifference"/>
                <a:ea typeface="Glacial Indifference"/>
                <a:cs typeface="Glacial Indifference"/>
                <a:sym typeface="Glacial Indifference"/>
              </a:rPr>
              <a:t>Pr</a:t>
            </a:r>
            <a:r>
              <a:rPr lang="en-US" sz="2400" spc="-72">
                <a:solidFill>
                  <a:srgbClr val="000000"/>
                </a:solidFill>
                <a:latin typeface="Glacial Indifference"/>
                <a:ea typeface="Glacial Indifference"/>
                <a:cs typeface="Glacial Indifference"/>
                <a:sym typeface="Glacial Indifference"/>
              </a:rPr>
              <a:t>insip ini diterapkan berupa hanya daftar-daftar fitur krusial saja yang diimplementasikan dalam sistem. Keputusan ini diambil mengingat waktu pengerjaan proyek yang terbatas serta mempertimbangkan tujuan utama dari sistem ini adalah mengatasi permasalahan pengguna.</a:t>
            </a:r>
          </a:p>
          <a:p>
            <a:pPr algn="just">
              <a:lnSpc>
                <a:spcPts val="3359"/>
              </a:lnSpc>
            </a:pPr>
          </a:p>
        </p:txBody>
      </p:sp>
      <p:sp>
        <p:nvSpPr>
          <p:cNvPr name="TextBox 5" id="5"/>
          <p:cNvSpPr txBox="true"/>
          <p:nvPr/>
        </p:nvSpPr>
        <p:spPr>
          <a:xfrm rot="0">
            <a:off x="9144000" y="2210140"/>
            <a:ext cx="9044679" cy="415290"/>
          </a:xfrm>
          <a:prstGeom prst="rect">
            <a:avLst/>
          </a:prstGeom>
        </p:spPr>
        <p:txBody>
          <a:bodyPr anchor="t" rtlCol="false" tIns="0" lIns="0" bIns="0" rIns="0">
            <a:spAutoFit/>
          </a:bodyPr>
          <a:lstStyle/>
          <a:p>
            <a:pPr algn="just">
              <a:lnSpc>
                <a:spcPts val="3359"/>
              </a:lnSpc>
            </a:pPr>
            <a:r>
              <a:rPr lang="en-US" b="true" sz="2400" spc="-72">
                <a:solidFill>
                  <a:srgbClr val="0058B4"/>
                </a:solidFill>
                <a:latin typeface="Glacial Indifference Bold"/>
                <a:ea typeface="Glacial Indifference Bold"/>
                <a:cs typeface="Glacial Indifference Bold"/>
                <a:sym typeface="Glacial Indifference Bold"/>
              </a:rPr>
              <a:t>Keep It Simple, Stupid !</a:t>
            </a:r>
          </a:p>
        </p:txBody>
      </p:sp>
      <p:sp>
        <p:nvSpPr>
          <p:cNvPr name="TextBox 6" id="6"/>
          <p:cNvSpPr txBox="true"/>
          <p:nvPr/>
        </p:nvSpPr>
        <p:spPr>
          <a:xfrm rot="0">
            <a:off x="874839" y="6959746"/>
            <a:ext cx="7424062" cy="2091690"/>
          </a:xfrm>
          <a:prstGeom prst="rect">
            <a:avLst/>
          </a:prstGeom>
        </p:spPr>
        <p:txBody>
          <a:bodyPr anchor="t" rtlCol="false" tIns="0" lIns="0" bIns="0" rIns="0">
            <a:spAutoFit/>
          </a:bodyPr>
          <a:lstStyle/>
          <a:p>
            <a:pPr algn="just">
              <a:lnSpc>
                <a:spcPts val="3359"/>
              </a:lnSpc>
            </a:pPr>
            <a:r>
              <a:rPr lang="en-US" sz="2400" spc="-72">
                <a:solidFill>
                  <a:srgbClr val="000000"/>
                </a:solidFill>
                <a:latin typeface="Glacial Indifference"/>
                <a:ea typeface="Glacial Indifference"/>
                <a:cs typeface="Glacial Indifference"/>
                <a:sym typeface="Glacial Indifference"/>
              </a:rPr>
              <a:t>Pr</a:t>
            </a:r>
            <a:r>
              <a:rPr lang="en-US" sz="2400" spc="-72">
                <a:solidFill>
                  <a:srgbClr val="000000"/>
                </a:solidFill>
                <a:latin typeface="Glacial Indifference"/>
                <a:ea typeface="Glacial Indifference"/>
                <a:cs typeface="Glacial Indifference"/>
                <a:sym typeface="Glacial Indifference"/>
              </a:rPr>
              <a:t>insip ini diterapkan dengan konsisten pada arsitektur sistem. Sehingga proyek ini tidak terhambat pengerjaannya karena perubahan arsitektur yang mendadak di tengah jalan.</a:t>
            </a:r>
          </a:p>
          <a:p>
            <a:pPr algn="just">
              <a:lnSpc>
                <a:spcPts val="3359"/>
              </a:lnSpc>
            </a:pPr>
          </a:p>
        </p:txBody>
      </p:sp>
      <p:sp>
        <p:nvSpPr>
          <p:cNvPr name="TextBox 7" id="7"/>
          <p:cNvSpPr txBox="true"/>
          <p:nvPr/>
        </p:nvSpPr>
        <p:spPr>
          <a:xfrm rot="0">
            <a:off x="874839" y="6321815"/>
            <a:ext cx="9044679" cy="834390"/>
          </a:xfrm>
          <a:prstGeom prst="rect">
            <a:avLst/>
          </a:prstGeom>
        </p:spPr>
        <p:txBody>
          <a:bodyPr anchor="t" rtlCol="false" tIns="0" lIns="0" bIns="0" rIns="0">
            <a:spAutoFit/>
          </a:bodyPr>
          <a:lstStyle/>
          <a:p>
            <a:pPr algn="just">
              <a:lnSpc>
                <a:spcPts val="3359"/>
              </a:lnSpc>
            </a:pPr>
            <a:r>
              <a:rPr lang="en-US" b="true" sz="2400" spc="-72">
                <a:solidFill>
                  <a:srgbClr val="0058B4"/>
                </a:solidFill>
                <a:latin typeface="Glacial Indifference Bold"/>
                <a:ea typeface="Glacial Indifference Bold"/>
                <a:cs typeface="Glacial Indifference Bold"/>
                <a:sym typeface="Glacial Indifference Bold"/>
              </a:rPr>
              <a:t>Maintain the Vision</a:t>
            </a:r>
          </a:p>
          <a:p>
            <a:pPr algn="just">
              <a:lnSpc>
                <a:spcPts val="3359"/>
              </a:lnSpc>
            </a:pPr>
          </a:p>
        </p:txBody>
      </p:sp>
      <p:grpSp>
        <p:nvGrpSpPr>
          <p:cNvPr name="Group 8" id="8"/>
          <p:cNvGrpSpPr/>
          <p:nvPr/>
        </p:nvGrpSpPr>
        <p:grpSpPr>
          <a:xfrm rot="0">
            <a:off x="0" y="3815"/>
            <a:ext cx="18288000" cy="1600285"/>
            <a:chOff x="0" y="0"/>
            <a:chExt cx="4816593" cy="421474"/>
          </a:xfrm>
        </p:grpSpPr>
        <p:sp>
          <p:nvSpPr>
            <p:cNvPr name="Freeform 9" id="9"/>
            <p:cNvSpPr/>
            <p:nvPr/>
          </p:nvSpPr>
          <p:spPr>
            <a:xfrm flipH="false" flipV="false" rot="0">
              <a:off x="0" y="0"/>
              <a:ext cx="4816592" cy="421474"/>
            </a:xfrm>
            <a:custGeom>
              <a:avLst/>
              <a:gdLst/>
              <a:ahLst/>
              <a:cxnLst/>
              <a:rect r="r" b="b" t="t" l="l"/>
              <a:pathLst>
                <a:path h="421474" w="4816592">
                  <a:moveTo>
                    <a:pt x="0" y="0"/>
                  </a:moveTo>
                  <a:lnTo>
                    <a:pt x="4816592" y="0"/>
                  </a:lnTo>
                  <a:lnTo>
                    <a:pt x="4816592" y="421474"/>
                  </a:lnTo>
                  <a:lnTo>
                    <a:pt x="0" y="421474"/>
                  </a:lnTo>
                  <a:close/>
                </a:path>
              </a:pathLst>
            </a:custGeom>
            <a:gradFill rotWithShape="true">
              <a:gsLst>
                <a:gs pos="0">
                  <a:srgbClr val="007DFF">
                    <a:alpha val="100000"/>
                  </a:srgbClr>
                </a:gs>
                <a:gs pos="100000">
                  <a:srgbClr val="0CB9EF">
                    <a:alpha val="100000"/>
                  </a:srgbClr>
                </a:gs>
              </a:gsLst>
              <a:lin ang="2700000"/>
            </a:gradFill>
          </p:spPr>
        </p:sp>
        <p:sp>
          <p:nvSpPr>
            <p:cNvPr name="TextBox 10" id="10"/>
            <p:cNvSpPr txBox="true"/>
            <p:nvPr/>
          </p:nvSpPr>
          <p:spPr>
            <a:xfrm>
              <a:off x="0" y="-47625"/>
              <a:ext cx="4816593" cy="469099"/>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5400000">
            <a:off x="2399317" y="-979248"/>
            <a:ext cx="146365" cy="2887599"/>
            <a:chOff x="0" y="0"/>
            <a:chExt cx="260235" cy="5134124"/>
          </a:xfrm>
        </p:grpSpPr>
        <p:sp>
          <p:nvSpPr>
            <p:cNvPr name="Freeform 12" id="12"/>
            <p:cNvSpPr/>
            <p:nvPr/>
          </p:nvSpPr>
          <p:spPr>
            <a:xfrm flipH="false" flipV="false" rot="0">
              <a:off x="0" y="0"/>
              <a:ext cx="260235" cy="5134124"/>
            </a:xfrm>
            <a:custGeom>
              <a:avLst/>
              <a:gdLst/>
              <a:ahLst/>
              <a:cxnLst/>
              <a:rect r="r" b="b" t="t" l="l"/>
              <a:pathLst>
                <a:path h="5134124" w="260235">
                  <a:moveTo>
                    <a:pt x="0" y="0"/>
                  </a:moveTo>
                  <a:lnTo>
                    <a:pt x="260235" y="0"/>
                  </a:lnTo>
                  <a:lnTo>
                    <a:pt x="260235" y="5134124"/>
                  </a:lnTo>
                  <a:lnTo>
                    <a:pt x="0" y="5134124"/>
                  </a:lnTo>
                  <a:close/>
                </a:path>
              </a:pathLst>
            </a:custGeom>
            <a:solidFill>
              <a:srgbClr val="FFE500"/>
            </a:solidFill>
          </p:spPr>
        </p:sp>
        <p:sp>
          <p:nvSpPr>
            <p:cNvPr name="TextBox 13" id="13"/>
            <p:cNvSpPr txBox="true"/>
            <p:nvPr/>
          </p:nvSpPr>
          <p:spPr>
            <a:xfrm>
              <a:off x="0" y="-47625"/>
              <a:ext cx="260235" cy="5181749"/>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1028700" y="585507"/>
            <a:ext cx="13601504" cy="631039"/>
          </a:xfrm>
          <a:prstGeom prst="rect">
            <a:avLst/>
          </a:prstGeom>
        </p:spPr>
        <p:txBody>
          <a:bodyPr anchor="t" rtlCol="false" tIns="0" lIns="0" bIns="0" rIns="0">
            <a:spAutoFit/>
          </a:bodyPr>
          <a:lstStyle/>
          <a:p>
            <a:pPr algn="l">
              <a:lnSpc>
                <a:spcPts val="5118"/>
              </a:lnSpc>
            </a:pPr>
            <a:r>
              <a:rPr lang="en-US" sz="3655" b="true">
                <a:solidFill>
                  <a:srgbClr val="FFFFFF"/>
                </a:solidFill>
                <a:latin typeface="Glacial Indifference Bold"/>
                <a:ea typeface="Glacial Indifference Bold"/>
                <a:cs typeface="Glacial Indifference Bold"/>
                <a:sym typeface="Glacial Indifference Bold"/>
              </a:rPr>
              <a:t>Refleksi Aplikasi</a:t>
            </a:r>
          </a:p>
        </p:txBody>
      </p:sp>
      <p:sp>
        <p:nvSpPr>
          <p:cNvPr name="TextBox 15" id="15"/>
          <p:cNvSpPr txBox="true"/>
          <p:nvPr/>
        </p:nvSpPr>
        <p:spPr>
          <a:xfrm rot="0">
            <a:off x="9144000" y="6928825"/>
            <a:ext cx="8297880" cy="2510790"/>
          </a:xfrm>
          <a:prstGeom prst="rect">
            <a:avLst/>
          </a:prstGeom>
        </p:spPr>
        <p:txBody>
          <a:bodyPr anchor="t" rtlCol="false" tIns="0" lIns="0" bIns="0" rIns="0">
            <a:spAutoFit/>
          </a:bodyPr>
          <a:lstStyle/>
          <a:p>
            <a:pPr algn="just">
              <a:lnSpc>
                <a:spcPts val="3359"/>
              </a:lnSpc>
            </a:pPr>
            <a:r>
              <a:rPr lang="en-US" sz="2400" spc="-72">
                <a:solidFill>
                  <a:srgbClr val="000000"/>
                </a:solidFill>
                <a:latin typeface="Glacial Indifference"/>
                <a:ea typeface="Glacial Indifference"/>
                <a:cs typeface="Glacial Indifference"/>
                <a:sym typeface="Glacial Indifference"/>
              </a:rPr>
              <a:t>Pr</a:t>
            </a:r>
            <a:r>
              <a:rPr lang="en-US" sz="2400" spc="-72">
                <a:solidFill>
                  <a:srgbClr val="000000"/>
                </a:solidFill>
                <a:latin typeface="Glacial Indifference"/>
                <a:ea typeface="Glacial Indifference"/>
                <a:cs typeface="Glacial Indifference"/>
                <a:sym typeface="Glacial Indifference"/>
              </a:rPr>
              <a:t>insip ini diterapkan dalam sistem ini dengan pembuatan komponen-komponen reusable pada Laravel 13. Selain itu, sistem ini tidak hanya dapat dipakai oleh Ormawa Robotika, tapi juga dapat dipakai oleh Ormawa lain Seperti Bengawan UV dan Bengawan FSAE.</a:t>
            </a:r>
          </a:p>
          <a:p>
            <a:pPr algn="just">
              <a:lnSpc>
                <a:spcPts val="3359"/>
              </a:lnSpc>
            </a:pPr>
          </a:p>
        </p:txBody>
      </p:sp>
      <p:sp>
        <p:nvSpPr>
          <p:cNvPr name="TextBox 16" id="16"/>
          <p:cNvSpPr txBox="true"/>
          <p:nvPr/>
        </p:nvSpPr>
        <p:spPr>
          <a:xfrm rot="0">
            <a:off x="9144000" y="6319225"/>
            <a:ext cx="9044679" cy="834390"/>
          </a:xfrm>
          <a:prstGeom prst="rect">
            <a:avLst/>
          </a:prstGeom>
        </p:spPr>
        <p:txBody>
          <a:bodyPr anchor="t" rtlCol="false" tIns="0" lIns="0" bIns="0" rIns="0">
            <a:spAutoFit/>
          </a:bodyPr>
          <a:lstStyle/>
          <a:p>
            <a:pPr algn="just">
              <a:lnSpc>
                <a:spcPts val="3359"/>
              </a:lnSpc>
            </a:pPr>
            <a:r>
              <a:rPr lang="en-US" b="true" sz="2400" spc="-72">
                <a:solidFill>
                  <a:srgbClr val="0058B4"/>
                </a:solidFill>
                <a:latin typeface="Glacial Indifference Bold"/>
                <a:ea typeface="Glacial Indifference Bold"/>
                <a:cs typeface="Glacial Indifference Bold"/>
                <a:sym typeface="Glacial Indifference Bold"/>
              </a:rPr>
              <a:t>Plan Ahead for Reuse</a:t>
            </a:r>
          </a:p>
          <a:p>
            <a:pPr algn="just">
              <a:lnSpc>
                <a:spcPts val="3359"/>
              </a:lnSpc>
            </a:pPr>
          </a:p>
        </p:txBody>
      </p:sp>
    </p:spTree>
  </p:cSld>
  <p:clrMapOvr>
    <a:masterClrMapping/>
  </p:clrMapOvr>
</p:sld>
</file>

<file path=ppt/slides/slide1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3815"/>
            <a:ext cx="18288000" cy="1600285"/>
            <a:chOff x="0" y="0"/>
            <a:chExt cx="4816593" cy="421474"/>
          </a:xfrm>
        </p:grpSpPr>
        <p:sp>
          <p:nvSpPr>
            <p:cNvPr name="Freeform 3" id="3"/>
            <p:cNvSpPr/>
            <p:nvPr/>
          </p:nvSpPr>
          <p:spPr>
            <a:xfrm flipH="false" flipV="false" rot="0">
              <a:off x="0" y="0"/>
              <a:ext cx="4816592" cy="421474"/>
            </a:xfrm>
            <a:custGeom>
              <a:avLst/>
              <a:gdLst/>
              <a:ahLst/>
              <a:cxnLst/>
              <a:rect r="r" b="b" t="t" l="l"/>
              <a:pathLst>
                <a:path h="421474" w="4816592">
                  <a:moveTo>
                    <a:pt x="0" y="0"/>
                  </a:moveTo>
                  <a:lnTo>
                    <a:pt x="4816592" y="0"/>
                  </a:lnTo>
                  <a:lnTo>
                    <a:pt x="4816592" y="421474"/>
                  </a:lnTo>
                  <a:lnTo>
                    <a:pt x="0" y="421474"/>
                  </a:lnTo>
                  <a:close/>
                </a:path>
              </a:pathLst>
            </a:custGeom>
            <a:gradFill rotWithShape="true">
              <a:gsLst>
                <a:gs pos="0">
                  <a:srgbClr val="007DFF">
                    <a:alpha val="100000"/>
                  </a:srgbClr>
                </a:gs>
                <a:gs pos="100000">
                  <a:srgbClr val="0CB9EF">
                    <a:alpha val="100000"/>
                  </a:srgbClr>
                </a:gs>
              </a:gsLst>
              <a:lin ang="2700000"/>
            </a:gradFill>
          </p:spPr>
        </p:sp>
        <p:sp>
          <p:nvSpPr>
            <p:cNvPr name="TextBox 4" id="4"/>
            <p:cNvSpPr txBox="true"/>
            <p:nvPr/>
          </p:nvSpPr>
          <p:spPr>
            <a:xfrm>
              <a:off x="0" y="-47625"/>
              <a:ext cx="4816593" cy="469099"/>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5400000">
            <a:off x="2399317" y="-979248"/>
            <a:ext cx="146365" cy="2887599"/>
            <a:chOff x="0" y="0"/>
            <a:chExt cx="260235" cy="5134124"/>
          </a:xfrm>
        </p:grpSpPr>
        <p:sp>
          <p:nvSpPr>
            <p:cNvPr name="Freeform 6" id="6"/>
            <p:cNvSpPr/>
            <p:nvPr/>
          </p:nvSpPr>
          <p:spPr>
            <a:xfrm flipH="false" flipV="false" rot="0">
              <a:off x="0" y="0"/>
              <a:ext cx="260235" cy="5134124"/>
            </a:xfrm>
            <a:custGeom>
              <a:avLst/>
              <a:gdLst/>
              <a:ahLst/>
              <a:cxnLst/>
              <a:rect r="r" b="b" t="t" l="l"/>
              <a:pathLst>
                <a:path h="5134124" w="260235">
                  <a:moveTo>
                    <a:pt x="0" y="0"/>
                  </a:moveTo>
                  <a:lnTo>
                    <a:pt x="260235" y="0"/>
                  </a:lnTo>
                  <a:lnTo>
                    <a:pt x="260235" y="5134124"/>
                  </a:lnTo>
                  <a:lnTo>
                    <a:pt x="0" y="5134124"/>
                  </a:lnTo>
                  <a:close/>
                </a:path>
              </a:pathLst>
            </a:custGeom>
            <a:solidFill>
              <a:srgbClr val="FFE500"/>
            </a:solidFill>
          </p:spPr>
        </p:sp>
        <p:sp>
          <p:nvSpPr>
            <p:cNvPr name="TextBox 7" id="7"/>
            <p:cNvSpPr txBox="true"/>
            <p:nvPr/>
          </p:nvSpPr>
          <p:spPr>
            <a:xfrm>
              <a:off x="0" y="-47625"/>
              <a:ext cx="260235" cy="5181749"/>
            </a:xfrm>
            <a:prstGeom prst="rect">
              <a:avLst/>
            </a:prstGeom>
          </p:spPr>
          <p:txBody>
            <a:bodyPr anchor="ctr" rtlCol="false" tIns="50800" lIns="50800" bIns="50800" rIns="50800"/>
            <a:lstStyle/>
            <a:p>
              <a:pPr algn="ctr">
                <a:lnSpc>
                  <a:spcPts val="2659"/>
                </a:lnSpc>
                <a:spcBef>
                  <a:spcPct val="0"/>
                </a:spcBef>
              </a:pPr>
            </a:p>
          </p:txBody>
        </p:sp>
      </p:grpSp>
      <p:sp>
        <p:nvSpPr>
          <p:cNvPr name="TextBox 8" id="8"/>
          <p:cNvSpPr txBox="true"/>
          <p:nvPr/>
        </p:nvSpPr>
        <p:spPr>
          <a:xfrm rot="0">
            <a:off x="1028700" y="585507"/>
            <a:ext cx="13601504" cy="631039"/>
          </a:xfrm>
          <a:prstGeom prst="rect">
            <a:avLst/>
          </a:prstGeom>
        </p:spPr>
        <p:txBody>
          <a:bodyPr anchor="t" rtlCol="false" tIns="0" lIns="0" bIns="0" rIns="0">
            <a:spAutoFit/>
          </a:bodyPr>
          <a:lstStyle/>
          <a:p>
            <a:pPr algn="l">
              <a:lnSpc>
                <a:spcPts val="5118"/>
              </a:lnSpc>
            </a:pPr>
            <a:r>
              <a:rPr lang="en-US" sz="3655" b="true">
                <a:solidFill>
                  <a:srgbClr val="FFFFFF"/>
                </a:solidFill>
                <a:latin typeface="Glacial Indifference Bold"/>
                <a:ea typeface="Glacial Indifference Bold"/>
                <a:cs typeface="Glacial Indifference Bold"/>
                <a:sym typeface="Glacial Indifference Bold"/>
              </a:rPr>
              <a:t>Penutup</a:t>
            </a:r>
          </a:p>
        </p:txBody>
      </p:sp>
      <p:sp>
        <p:nvSpPr>
          <p:cNvPr name="TextBox 9" id="9"/>
          <p:cNvSpPr txBox="true"/>
          <p:nvPr/>
        </p:nvSpPr>
        <p:spPr>
          <a:xfrm rot="0">
            <a:off x="1022303" y="2164531"/>
            <a:ext cx="16236997" cy="6791325"/>
          </a:xfrm>
          <a:prstGeom prst="rect">
            <a:avLst/>
          </a:prstGeom>
        </p:spPr>
        <p:txBody>
          <a:bodyPr anchor="t" rtlCol="false" tIns="0" lIns="0" bIns="0" rIns="0">
            <a:spAutoFit/>
          </a:bodyPr>
          <a:lstStyle/>
          <a:p>
            <a:pPr algn="just">
              <a:lnSpc>
                <a:spcPts val="4199"/>
              </a:lnSpc>
            </a:pPr>
            <a:r>
              <a:rPr lang="en-US" sz="2999" spc="-89">
                <a:solidFill>
                  <a:srgbClr val="000000"/>
                </a:solidFill>
                <a:latin typeface="Glacial Indifference"/>
                <a:ea typeface="Glacial Indifference"/>
                <a:cs typeface="Glacial Indifference"/>
                <a:sym typeface="Glacial Indifference"/>
              </a:rPr>
              <a:t>Aplikasi Colab yang merupakan apl</a:t>
            </a:r>
            <a:r>
              <a:rPr lang="en-US" sz="2999" spc="-89">
                <a:solidFill>
                  <a:srgbClr val="000000"/>
                </a:solidFill>
                <a:latin typeface="Glacial Indifference"/>
                <a:ea typeface="Glacial Indifference"/>
                <a:cs typeface="Glacial Indifference"/>
                <a:sym typeface="Glacial Indifference"/>
              </a:rPr>
              <a:t>ikasi manajemen tim dan media pembelajaran bagi anggota UKM Robotika, telah berhasil dibangun menggunakan framework Laravel dengan arsitektur MVC dan di-deploy pada platform Railway.</a:t>
            </a:r>
          </a:p>
          <a:p>
            <a:pPr algn="just">
              <a:lnSpc>
                <a:spcPts val="4199"/>
              </a:lnSpc>
            </a:pPr>
          </a:p>
          <a:p>
            <a:pPr algn="just">
              <a:lnSpc>
                <a:spcPts val="4199"/>
              </a:lnSpc>
            </a:pPr>
            <a:r>
              <a:rPr lang="en-US" sz="2999" spc="-89">
                <a:solidFill>
                  <a:srgbClr val="000000"/>
                </a:solidFill>
                <a:latin typeface="Glacial Indifference"/>
                <a:ea typeface="Glacial Indifference"/>
                <a:cs typeface="Glacial Indifference"/>
                <a:sym typeface="Glacial Indifference"/>
              </a:rPr>
              <a:t>Secara fungsional, sistem ini telah mengimplementasikan berbagai fitur utama, meliputi autentikasi pengguna yang aman, dasbor yang dipersonalisasi berdasarkan peran pengguna, sistem pemberian dan pengumpulan tugas, serta sistem penyimpanan materi yang memungkinkan anggota mengunduh referensi pembelajaran. Selain itu, data profil pengguna tersinkronisasi secara otomatis dengan database pusat, dan file seperti materi serta lampiran tugas disimpan secara permanen melalui Alibaba Cloud OSS.</a:t>
            </a:r>
          </a:p>
          <a:p>
            <a:pPr algn="just">
              <a:lnSpc>
                <a:spcPts val="4199"/>
              </a:lnSpc>
            </a:pPr>
          </a:p>
          <a:p>
            <a:pPr algn="just">
              <a:lnSpc>
                <a:spcPts val="4199"/>
              </a:lnSpc>
            </a:pPr>
            <a:r>
              <a:rPr lang="en-US" sz="2999" spc="-89">
                <a:solidFill>
                  <a:srgbClr val="000000"/>
                </a:solidFill>
                <a:latin typeface="Glacial Indifference"/>
                <a:ea typeface="Glacial Indifference"/>
                <a:cs typeface="Glacial Indifference"/>
                <a:sym typeface="Glacial Indifference"/>
              </a:rPr>
              <a:t>Dengan hadirnya aplikasi ini, diharapkan efisiensi pengelolaan tugas dan proses pembelajaran dalam UKM Robotika dapat meningkat secara signifikan. Ke depannya, aplikasi ini juga diharapkan membuka ruang pengembangan lebih lanjut yang berpotensi diadaptasi oleh organisasi serupa lainnya.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DAHOae9uZaM</dc:identifier>
  <dcterms:modified xsi:type="dcterms:W3CDTF">2011-08-01T06:04:30Z</dcterms:modified>
  <cp:revision>1</cp:revision>
  <dc:title>DEMO APLIKASI</dc:title>
</cp:coreProperties>
</file>